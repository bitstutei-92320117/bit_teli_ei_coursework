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6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51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924A01-34E0-4B73-B0FC-B9FBBB15FF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B44622F-2A64-44A0-BD90-61EA863C96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9D96B2-E703-4A96-91B1-824EA50B9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8818F-CF4A-4A96-89CB-CCE6EC518D92}" type="datetimeFigureOut">
              <a:rPr lang="zh-CN" altLang="en-US" smtClean="0"/>
              <a:t>2024/4/12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EA5DCA-C658-43BD-9153-47B3DF690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5123C3-2243-4C5C-A641-826F06684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1209-4D29-4D34-94F0-2580BC009A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7547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FAE9F8-A25E-449B-8A99-B1ABE8B20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9C940E-E6CF-4FD7-BF70-68292E3ECA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0EEE70E-2928-4C2D-A02C-E4FF18209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8818F-CF4A-4A96-89CB-CCE6EC518D92}" type="datetimeFigureOut">
              <a:rPr lang="zh-CN" altLang="en-US" smtClean="0"/>
              <a:t>2024/4/12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B053A9-BA77-48BF-8B49-4383FC6A3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800886-CCDD-4837-9E93-B02C75DAA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1209-4D29-4D34-94F0-2580BC009A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241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1639D2-DCF9-4683-92CE-627953E48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19DB2D-11B1-473F-8D86-67CA60435E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225C9D-AC08-40BD-B591-5BB752DE2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8818F-CF4A-4A96-89CB-CCE6EC518D92}" type="datetimeFigureOut">
              <a:rPr lang="zh-CN" altLang="en-US" smtClean="0"/>
              <a:t>2024/4/12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060580-B86B-462C-B2BB-F34ABD00D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79D597-D39B-4444-ACEB-8734640C9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1209-4D29-4D34-94F0-2580BC009A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66322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FF294D-4A31-45D2-A436-0F790177C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3805C8-A782-423B-8526-E9E9B7700C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12CEF93-F21A-46C1-82F2-8D23ABAD91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2CD57AF-A837-47AC-9F0D-596234D05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8818F-CF4A-4A96-89CB-CCE6EC518D92}" type="datetimeFigureOut">
              <a:rPr lang="zh-CN" altLang="en-US" smtClean="0"/>
              <a:t>2024/4/12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31D70B-A085-4C09-BA5F-B89180A93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A31E0E8-C1FD-4E9E-8479-5875B3787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1209-4D29-4D34-94F0-2580BC009A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774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32D28E-E1B4-44D6-8D34-67719E164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F9670AC-30D2-4F8C-8C08-59F4889FC5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D47909F-964D-42BB-AED8-581B008DAE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14A2FB3-F8F0-4E47-87FA-991DD2F94D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3EC6947-7E3F-43BF-B1E0-542B52D737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9639520-615A-4D05-B68C-52A94EC8F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8818F-CF4A-4A96-89CB-CCE6EC518D92}" type="datetimeFigureOut">
              <a:rPr lang="zh-CN" altLang="en-US" smtClean="0"/>
              <a:t>2024/4/12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B8802E8-6AE1-400F-9F84-6748F1995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61A510E-DF7C-4447-BB9A-2198DAC20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1209-4D29-4D34-94F0-2580BC009A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6086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FC8749-C5F8-4A61-939A-84B8F5E8A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60FDDC4-6EE8-4E8E-9016-9EA474893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8818F-CF4A-4A96-89CB-CCE6EC518D92}" type="datetimeFigureOut">
              <a:rPr lang="zh-CN" altLang="en-US" smtClean="0"/>
              <a:t>2024/4/12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513B8DD-6110-4714-8CF4-33388AA19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DCA1505-42DC-44A0-9EDE-467076F27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1209-4D29-4D34-94F0-2580BC009A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1883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5F29979-CCAC-4E6F-9918-6F32334FF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8818F-CF4A-4A96-89CB-CCE6EC518D92}" type="datetimeFigureOut">
              <a:rPr lang="zh-CN" altLang="en-US" smtClean="0"/>
              <a:t>2024/4/12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23D5747-8A3C-463E-A775-A634B5670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8D442CD-679C-4C48-8BBE-D6C8AF9D2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1209-4D29-4D34-94F0-2580BC009A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7323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83ECCC-B8F9-4C39-89CE-EBE842B02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FA42D8-74AA-4153-89DE-34917A342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1E7118D-ECFD-4531-96D7-9A71A0A720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FD9A7AF-4823-40AB-9B54-9ECF32547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8818F-CF4A-4A96-89CB-CCE6EC518D92}" type="datetimeFigureOut">
              <a:rPr lang="zh-CN" altLang="en-US" smtClean="0"/>
              <a:t>2024/4/12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4F86555-DDE9-4E39-BA4E-5328CADBC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3C4101F-F135-430D-9F18-8A067FBFE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1209-4D29-4D34-94F0-2580BC009A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7056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190BB6-C98C-4CC9-8330-BD7DAC872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EA2E6AC-46C2-4D10-A9FC-75935EFA83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4B3C8A5-3B9E-48CE-8D20-02E77C7C2E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900007D-BC2E-4543-AC8B-BDA54924E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8818F-CF4A-4A96-89CB-CCE6EC518D92}" type="datetimeFigureOut">
              <a:rPr lang="zh-CN" altLang="en-US" smtClean="0"/>
              <a:t>2024/4/12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DC00846-2A38-4F68-AE72-CC229D10C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8581825-9415-41BB-85C4-303B5D310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1209-4D29-4D34-94F0-2580BC009A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9834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BAB10A-5764-4A92-9718-AA44FEA25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93DFF08-6B79-4ADA-91B0-B11966FC97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DED362-A5A3-4254-A676-D0F1C6B40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8818F-CF4A-4A96-89CB-CCE6EC518D92}" type="datetimeFigureOut">
              <a:rPr lang="zh-CN" altLang="en-US" smtClean="0"/>
              <a:t>2024/4/12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2A8408-8E94-49FE-95AA-13758438F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71CA52-89E0-424F-A77C-758145888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1209-4D29-4D34-94F0-2580BC009A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1958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E379205-5208-4F86-B0F9-9D414DBF02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09610AD-E00E-43A4-99C1-D5A010629F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ADD34E-9F8D-4A72-8B21-D60FCE94D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8818F-CF4A-4A96-89CB-CCE6EC518D92}" type="datetimeFigureOut">
              <a:rPr lang="zh-CN" altLang="en-US" smtClean="0"/>
              <a:t>2024/4/12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C9E3CE-5288-40A7-BE59-A68A8663A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6A5B7E-360D-42FC-B674-B6B232F4D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1209-4D29-4D34-94F0-2580BC009A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1418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585C3F5-7F64-428A-8D9E-4959F1DCA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91B83D4-B4ED-4B9B-AB35-FE81E0AAD7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43A23F-322E-4D50-AE4C-3E6978C238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18818F-CF4A-4A96-89CB-CCE6EC518D92}" type="datetimeFigureOut">
              <a:rPr lang="zh-CN" altLang="en-US" smtClean="0"/>
              <a:t>2024/4/12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39AE21-88F0-4AA7-9638-660B286EE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D17144A-4F13-4E06-B2D9-15B2FB1ADE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251209-4D29-4D34-94F0-2580BC009A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2803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">
            <a:extLst>
              <a:ext uri="{FF2B5EF4-FFF2-40B4-BE49-F238E27FC236}">
                <a16:creationId xmlns:a16="http://schemas.microsoft.com/office/drawing/2014/main" id="{1917E10E-3BBF-4F32-887C-BA29AAE431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296" y="1087437"/>
            <a:ext cx="7476641" cy="2340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b="1" dirty="0"/>
              <a:t>1. </a:t>
            </a:r>
            <a:r>
              <a:rPr lang="zh-CN" altLang="en-US" sz="2000" b="1" dirty="0"/>
              <a:t>设有一个信源，它产生</a:t>
            </a:r>
            <a:r>
              <a:rPr lang="en-US" altLang="zh-CN" sz="2000" b="1" dirty="0"/>
              <a:t>0</a:t>
            </a:r>
            <a:r>
              <a:rPr lang="zh-CN" altLang="en-US" sz="2000" b="1" dirty="0"/>
              <a:t>，</a:t>
            </a:r>
            <a:r>
              <a:rPr lang="en-US" altLang="zh-CN" sz="2000" b="1" dirty="0"/>
              <a:t>1</a:t>
            </a:r>
            <a:r>
              <a:rPr lang="zh-CN" altLang="en-US" sz="2000" b="1" dirty="0"/>
              <a:t>序列的消息。它在任意时间无论之前发出过什么符号，均按照</a:t>
            </a:r>
            <a:r>
              <a:rPr lang="en-US" altLang="zh-CN" sz="2000" b="1" dirty="0"/>
              <a:t>P(0)=0.4, P(1)=0.6 </a:t>
            </a:r>
            <a:r>
              <a:rPr lang="zh-CN" altLang="en-US" sz="2000" b="1" dirty="0"/>
              <a:t>的概率发出符号。</a:t>
            </a:r>
            <a:endParaRPr lang="en-US" altLang="zh-CN" sz="2000" b="1" dirty="0"/>
          </a:p>
          <a:p>
            <a:pPr>
              <a:lnSpc>
                <a:spcPct val="150000"/>
              </a:lnSpc>
            </a:pPr>
            <a:r>
              <a:rPr lang="zh-CN" altLang="en-US" sz="2000" b="1" dirty="0"/>
              <a:t>（</a:t>
            </a:r>
            <a:r>
              <a:rPr lang="en-US" altLang="zh-CN" sz="2000" b="1" dirty="0"/>
              <a:t>1</a:t>
            </a:r>
            <a:r>
              <a:rPr lang="zh-CN" altLang="en-US" sz="2000" b="1" dirty="0"/>
              <a:t>）试问这个信源是否平稳</a:t>
            </a:r>
            <a:endParaRPr lang="en-US" altLang="zh-CN" sz="2000" b="1" dirty="0"/>
          </a:p>
          <a:p>
            <a:pPr>
              <a:lnSpc>
                <a:spcPct val="150000"/>
              </a:lnSpc>
            </a:pPr>
            <a:r>
              <a:rPr lang="zh-CN" altLang="en-US" sz="2000" b="1" dirty="0"/>
              <a:t>（</a:t>
            </a:r>
            <a:r>
              <a:rPr lang="en-US" altLang="zh-CN" sz="2000" b="1" dirty="0"/>
              <a:t>2</a:t>
            </a:r>
            <a:r>
              <a:rPr lang="zh-CN" altLang="en-US" sz="2000" b="1" dirty="0"/>
              <a:t>）计算 </a:t>
            </a:r>
            <a:r>
              <a:rPr lang="en-US" altLang="zh-CN" sz="2000" dirty="0"/>
              <a:t>H(X</a:t>
            </a:r>
            <a:r>
              <a:rPr lang="en-US" altLang="zh-CN" sz="2000" baseline="30000" dirty="0"/>
              <a:t>2</a:t>
            </a:r>
            <a:r>
              <a:rPr lang="en-US" altLang="zh-CN" sz="2000" dirty="0"/>
              <a:t>)</a:t>
            </a:r>
            <a:r>
              <a:rPr lang="zh-CN" altLang="en-US" sz="2000" b="1" dirty="0"/>
              <a:t> ，</a:t>
            </a:r>
            <a:r>
              <a:rPr lang="en-US" altLang="zh-CN" sz="2000" dirty="0"/>
              <a:t>H(X</a:t>
            </a:r>
            <a:r>
              <a:rPr lang="en-US" altLang="zh-CN" sz="2000" baseline="-25000" dirty="0"/>
              <a:t>3</a:t>
            </a:r>
            <a:r>
              <a:rPr lang="en-US" altLang="zh-CN" sz="2000" dirty="0"/>
              <a:t>|X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X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)</a:t>
            </a:r>
            <a:r>
              <a:rPr lang="zh-CN" altLang="en-US" sz="2000" b="1" dirty="0"/>
              <a:t>   及</a:t>
            </a:r>
            <a:endParaRPr lang="en-US" altLang="zh-CN" sz="2000" b="1" dirty="0"/>
          </a:p>
          <a:p>
            <a:pPr>
              <a:lnSpc>
                <a:spcPct val="150000"/>
              </a:lnSpc>
            </a:pPr>
            <a:r>
              <a:rPr lang="zh-CN" altLang="en-US" sz="2000" b="1" dirty="0"/>
              <a:t>（</a:t>
            </a:r>
            <a:r>
              <a:rPr lang="en-US" altLang="zh-CN" sz="2000" b="1" dirty="0"/>
              <a:t>3</a:t>
            </a:r>
            <a:r>
              <a:rPr lang="zh-CN" altLang="en-US" sz="2000" b="1" dirty="0"/>
              <a:t>）计算 </a:t>
            </a:r>
            <a:r>
              <a:rPr lang="en-US" altLang="zh-CN" sz="2000" dirty="0"/>
              <a:t>H(X</a:t>
            </a:r>
            <a:r>
              <a:rPr lang="en-US" altLang="zh-CN" sz="2000" baseline="30000" dirty="0"/>
              <a:t>4</a:t>
            </a:r>
            <a:r>
              <a:rPr lang="en-US" altLang="zh-CN" sz="2000" dirty="0"/>
              <a:t>)</a:t>
            </a:r>
            <a:r>
              <a:rPr lang="zh-CN" altLang="en-US" sz="2000" b="1" dirty="0"/>
              <a:t> ， 并写出 </a:t>
            </a:r>
            <a:r>
              <a:rPr lang="en-US" altLang="zh-CN" sz="2000" dirty="0"/>
              <a:t>X</a:t>
            </a:r>
            <a:r>
              <a:rPr lang="en-US" altLang="zh-CN" sz="2000" baseline="30000" dirty="0"/>
              <a:t>4</a:t>
            </a:r>
            <a:r>
              <a:rPr lang="zh-CN" altLang="en-US" sz="2000" b="1" dirty="0"/>
              <a:t> 信源中可能的所有符号</a:t>
            </a:r>
            <a:r>
              <a:rPr lang="en-US" altLang="zh-CN" sz="2000" b="1" dirty="0"/>
              <a:t> </a:t>
            </a:r>
            <a:endParaRPr lang="zh-CN" altLang="en-US" sz="2000" b="1" dirty="0"/>
          </a:p>
        </p:txBody>
      </p:sp>
      <p:sp>
        <p:nvSpPr>
          <p:cNvPr id="22" name="文本框 1">
            <a:extLst>
              <a:ext uri="{FF2B5EF4-FFF2-40B4-BE49-F238E27FC236}">
                <a16:creationId xmlns:a16="http://schemas.microsoft.com/office/drawing/2014/main" id="{B63F1CE3-DD48-46BE-AA6A-8A7DBCE2E5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296" y="3977794"/>
            <a:ext cx="77930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 b="1" dirty="0"/>
              <a:t>2. </a:t>
            </a:r>
            <a:r>
              <a:rPr lang="zh-CN" altLang="en-US" sz="2000" b="1" dirty="0"/>
              <a:t>针对例</a:t>
            </a:r>
            <a:r>
              <a:rPr lang="en-US" altLang="zh-CN" sz="2000" b="1" dirty="0"/>
              <a:t>3-8</a:t>
            </a:r>
            <a:r>
              <a:rPr lang="zh-CN" altLang="en-US" sz="2000" b="1" dirty="0"/>
              <a:t>给出的信源，求  </a:t>
            </a:r>
            <a:r>
              <a:rPr lang="en-US" altLang="zh-CN" sz="2000" dirty="0"/>
              <a:t>H</a:t>
            </a:r>
            <a:r>
              <a:rPr lang="en-US" altLang="zh-CN" sz="2000" baseline="-25000" dirty="0"/>
              <a:t>0</a:t>
            </a:r>
            <a:r>
              <a:rPr lang="zh-CN" altLang="en-US" sz="2000" b="1" dirty="0"/>
              <a:t> 、</a:t>
            </a:r>
            <a:r>
              <a:rPr lang="en-US" altLang="zh-CN" sz="2000" dirty="0"/>
              <a:t>H</a:t>
            </a:r>
            <a:r>
              <a:rPr lang="en-US" altLang="zh-CN" sz="2000" baseline="-25000" dirty="0"/>
              <a:t>1</a:t>
            </a:r>
            <a:r>
              <a:rPr lang="zh-CN" altLang="en-US" sz="2000" b="1" dirty="0"/>
              <a:t>  、</a:t>
            </a:r>
            <a:r>
              <a:rPr lang="en-US" altLang="zh-CN" sz="2000" dirty="0"/>
              <a:t>H</a:t>
            </a:r>
            <a:r>
              <a:rPr lang="en-US" altLang="zh-CN" sz="2000" baseline="-25000" dirty="0"/>
              <a:t>2</a:t>
            </a:r>
            <a:r>
              <a:rPr lang="zh-CN" altLang="en-US" sz="2000" b="1" dirty="0"/>
              <a:t> 及它们对应的冗余度</a:t>
            </a:r>
          </a:p>
        </p:txBody>
      </p:sp>
      <p:sp>
        <p:nvSpPr>
          <p:cNvPr id="24" name="文本框 2">
            <a:extLst>
              <a:ext uri="{FF2B5EF4-FFF2-40B4-BE49-F238E27FC236}">
                <a16:creationId xmlns:a16="http://schemas.microsoft.com/office/drawing/2014/main" id="{FC2BE27F-01ED-4D1C-A308-E38B821F24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275" y="4759325"/>
            <a:ext cx="8074025" cy="163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 b="1" dirty="0"/>
              <a:t>例</a:t>
            </a:r>
            <a:r>
              <a:rPr lang="en-US" altLang="zh-CN" sz="2000" b="1" dirty="0"/>
              <a:t>3-8</a:t>
            </a:r>
          </a:p>
          <a:p>
            <a:r>
              <a:rPr lang="en-US" altLang="zh-CN" sz="2000" b="1" dirty="0"/>
              <a:t>	X 	0	1	2       </a:t>
            </a:r>
          </a:p>
          <a:p>
            <a:r>
              <a:rPr lang="en-US" altLang="zh-CN" sz="2000" b="1" dirty="0"/>
              <a:t>   	         =</a:t>
            </a:r>
          </a:p>
          <a:p>
            <a:r>
              <a:rPr lang="en-US" altLang="zh-CN" sz="2000" b="1" dirty="0"/>
              <a:t>	P(x)	11/36	4/9 	1/4</a:t>
            </a:r>
          </a:p>
          <a:p>
            <a:endParaRPr lang="en-US" altLang="zh-CN" sz="2000" b="1" dirty="0"/>
          </a:p>
        </p:txBody>
      </p:sp>
      <p:graphicFrame>
        <p:nvGraphicFramePr>
          <p:cNvPr id="7" name="对象 3">
            <a:extLst>
              <a:ext uri="{FF2B5EF4-FFF2-40B4-BE49-F238E27FC236}">
                <a16:creationId xmlns:a16="http://schemas.microsoft.com/office/drawing/2014/main" id="{0F34296E-0374-4CBA-AC6C-F3FCCCDF73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4978891"/>
              </p:ext>
            </p:extLst>
          </p:nvPr>
        </p:nvGraphicFramePr>
        <p:xfrm>
          <a:off x="4281971" y="2530475"/>
          <a:ext cx="1384300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47700" imgH="228600" progId="Equation.DSMT4">
                  <p:embed/>
                </p:oleObj>
              </mc:Choice>
              <mc:Fallback>
                <p:oleObj name="Equation" r:id="rId2" imgW="647700" imgH="228600" progId="Equation.DSMT4">
                  <p:embed/>
                  <p:pic>
                    <p:nvPicPr>
                      <p:cNvPr id="33795" name="对象 3">
                        <a:extLst>
                          <a:ext uri="{FF2B5EF4-FFF2-40B4-BE49-F238E27FC236}">
                            <a16:creationId xmlns:a16="http://schemas.microsoft.com/office/drawing/2014/main" id="{847CC478-E4B1-44D6-B9C5-09071E312ED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1971" y="2530475"/>
                        <a:ext cx="1384300" cy="487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42101145-E509-F19C-7232-4DA95CC29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526"/>
            <a:ext cx="10515600" cy="1325563"/>
          </a:xfrm>
        </p:spPr>
        <p:txBody>
          <a:bodyPr/>
          <a:lstStyle/>
          <a:p>
            <a:r>
              <a:rPr lang="en-US" altLang="zh-CN" dirty="0"/>
              <a:t>CH3-</a:t>
            </a:r>
            <a:endParaRPr lang="zh-CN" alt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93D6796-3D37-FBB4-72E6-D047A74E3F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3535" y="4455746"/>
            <a:ext cx="5860835" cy="2187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6019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5">
            <a:extLst>
              <a:ext uri="{FF2B5EF4-FFF2-40B4-BE49-F238E27FC236}">
                <a16:creationId xmlns:a16="http://schemas.microsoft.com/office/drawing/2014/main" id="{F1B5F8F7-6FBC-4D5D-93C7-9BE4C2642F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488" y="1268413"/>
            <a:ext cx="11209337" cy="15672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ea typeface="宋体" panose="02010600030101010101" pitchFamily="2" charset="-122"/>
              </a:rPr>
              <a:t>2</a:t>
            </a:r>
            <a:r>
              <a:rPr lang="zh-CN" altLang="en-US" sz="2000" b="1" dirty="0">
                <a:ea typeface="宋体" panose="02010600030101010101" pitchFamily="2" charset="-122"/>
              </a:rPr>
              <a:t>：设有一简单离散信源：</a:t>
            </a:r>
            <a:r>
              <a:rPr lang="en-US" altLang="zh-CN" sz="2000" b="1" dirty="0">
                <a:ea typeface="宋体" panose="02010600030101010101" pitchFamily="2" charset="-122"/>
              </a:rPr>
              <a:t>L=1,n=3</a:t>
            </a:r>
            <a:r>
              <a:rPr lang="zh-CN" altLang="en-US" sz="2000" b="1" dirty="0">
                <a:ea typeface="宋体" panose="02010600030101010101" pitchFamily="2" charset="-122"/>
              </a:rPr>
              <a:t>；</a:t>
            </a:r>
            <a:r>
              <a:rPr lang="en-US" altLang="zh-CN" sz="2000" b="1" dirty="0">
                <a:ea typeface="宋体" panose="02010600030101010101" pitchFamily="2" charset="-122"/>
              </a:rPr>
              <a:t>P(0)=0.2,P(1)=0.3,P(2)=0.5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zh-CN" sz="2000" b="1" dirty="0"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ea typeface="宋体" panose="02010600030101010101" pitchFamily="2" charset="-122"/>
              </a:rPr>
              <a:t>        </a:t>
            </a:r>
            <a:r>
              <a:rPr lang="zh-CN" altLang="en-US" sz="2000" b="1" dirty="0">
                <a:ea typeface="宋体" panose="02010600030101010101" pitchFamily="2" charset="-122"/>
              </a:rPr>
              <a:t>对其进行近似于无失真的等长编码，若要求其编码效率为</a:t>
            </a:r>
            <a:r>
              <a:rPr lang="en-US" altLang="zh-CN" sz="2000" b="1" dirty="0">
                <a:ea typeface="宋体" panose="02010600030101010101" pitchFamily="2" charset="-122"/>
              </a:rPr>
              <a:t>96%</a:t>
            </a:r>
            <a:r>
              <a:rPr lang="zh-CN" altLang="en-US" sz="2000" b="1" dirty="0">
                <a:ea typeface="宋体" panose="02010600030101010101" pitchFamily="2" charset="-122"/>
              </a:rPr>
              <a:t>，差错率低于</a:t>
            </a:r>
            <a:r>
              <a:rPr lang="en-US" altLang="zh-CN" sz="2000" b="1" dirty="0">
                <a:ea typeface="宋体" panose="02010600030101010101" pitchFamily="2" charset="-122"/>
              </a:rPr>
              <a:t>10</a:t>
            </a:r>
            <a:r>
              <a:rPr lang="en-US" altLang="zh-CN" sz="2000" b="1" baseline="30000" dirty="0">
                <a:ea typeface="宋体" panose="02010600030101010101" pitchFamily="2" charset="-122"/>
              </a:rPr>
              <a:t>-5</a:t>
            </a:r>
            <a:r>
              <a:rPr lang="zh-CN" altLang="en-US" sz="2000" b="1" dirty="0">
                <a:ea typeface="宋体" panose="02010600030101010101" pitchFamily="2" charset="-122"/>
              </a:rPr>
              <a:t>，</a:t>
            </a:r>
            <a:endParaRPr lang="en-US" altLang="zh-CN" sz="2000" b="1" dirty="0"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ea typeface="宋体" panose="02010600030101010101" pitchFamily="2" charset="-122"/>
              </a:rPr>
              <a:t>        </a:t>
            </a:r>
            <a:r>
              <a:rPr lang="zh-CN" altLang="en-US" sz="2000" b="1" dirty="0">
                <a:ea typeface="宋体" panose="02010600030101010101" pitchFamily="2" charset="-122"/>
              </a:rPr>
              <a:t>试求符号联合编码长度</a:t>
            </a:r>
            <a:r>
              <a:rPr lang="en-US" altLang="zh-CN" sz="2000" b="1" dirty="0">
                <a:ea typeface="宋体" panose="02010600030101010101" pitchFamily="2" charset="-122"/>
              </a:rPr>
              <a:t>L=</a:t>
            </a:r>
            <a:r>
              <a:rPr lang="zh-CN" altLang="en-US" sz="2000" b="1" dirty="0">
                <a:ea typeface="宋体" panose="02010600030101010101" pitchFamily="2" charset="-122"/>
              </a:rPr>
              <a:t>？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6B5C64E-2F6E-382B-7EDB-6140581D5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9770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1C4F6AA4-BBF6-4FB0-9ADB-F43171FB9150}"/>
              </a:ext>
            </a:extLst>
          </p:cNvPr>
          <p:cNvSpPr txBox="1">
            <a:spLocks/>
          </p:cNvSpPr>
          <p:nvPr/>
        </p:nvSpPr>
        <p:spPr>
          <a:xfrm>
            <a:off x="778922" y="1462088"/>
            <a:ext cx="10739284" cy="16525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12700">
              <a:lnSpc>
                <a:spcPct val="150000"/>
              </a:lnSpc>
              <a:defRPr/>
            </a:pPr>
            <a:r>
              <a:rPr lang="en-US" altLang="zh-CN" sz="1800" b="1" dirty="0"/>
              <a:t>3.</a:t>
            </a:r>
            <a:r>
              <a:rPr lang="zh-CN" altLang="en-US" sz="2400" b="1" dirty="0"/>
              <a:t>设一信源有分别包含三个符号，各符号的概率分别为</a:t>
            </a:r>
            <a:r>
              <a:rPr lang="en-US" altLang="zh-CN" sz="2400" b="1" dirty="0"/>
              <a:t>0.5</a:t>
            </a:r>
            <a:r>
              <a:rPr lang="zh-CN" altLang="en-US" sz="2400" b="1" dirty="0"/>
              <a:t>，</a:t>
            </a:r>
            <a:r>
              <a:rPr lang="en-US" altLang="zh-CN" sz="2400" b="1" dirty="0"/>
              <a:t>0.4</a:t>
            </a:r>
            <a:r>
              <a:rPr lang="zh-CN" altLang="en-US" sz="2400" b="1" dirty="0"/>
              <a:t>，和 </a:t>
            </a:r>
            <a:r>
              <a:rPr lang="en-US" altLang="zh-CN" sz="2400" b="1" dirty="0"/>
              <a:t>0.</a:t>
            </a:r>
            <a:r>
              <a:rPr lang="zh-CN" altLang="en-US" sz="2400" b="1" dirty="0"/>
              <a:t>１。</a:t>
            </a:r>
          </a:p>
          <a:p>
            <a:pPr marL="609600" indent="-609600">
              <a:lnSpc>
                <a:spcPct val="150000"/>
              </a:lnSpc>
              <a:defRPr/>
            </a:pPr>
            <a:r>
              <a:rPr lang="zh-CN" altLang="en-US" sz="1800" b="1" dirty="0"/>
              <a:t>       编制二进制</a:t>
            </a:r>
            <a:r>
              <a:rPr lang="en-US" altLang="zh-CN" sz="1800" b="1" dirty="0"/>
              <a:t>Huffman</a:t>
            </a:r>
            <a:r>
              <a:rPr lang="zh-CN" altLang="en-US" sz="1800" b="1" dirty="0"/>
              <a:t>编码，并计算信息传输率和编码效率。</a:t>
            </a:r>
          </a:p>
          <a:p>
            <a:pPr marL="609600" indent="-609600">
              <a:lnSpc>
                <a:spcPct val="150000"/>
              </a:lnSpc>
              <a:defRPr/>
            </a:pPr>
            <a:r>
              <a:rPr lang="zh-CN" altLang="en-US" sz="1800" b="1" dirty="0"/>
              <a:t>       先进行二次扩展，分别编制二进制香农码和</a:t>
            </a:r>
            <a:r>
              <a:rPr lang="en-US" altLang="zh-CN" sz="1800" b="1" dirty="0"/>
              <a:t>Huffman</a:t>
            </a:r>
            <a:r>
              <a:rPr lang="zh-CN" altLang="en-US" sz="1800" b="1" dirty="0"/>
              <a:t>码，并计算信息传输率和编码效率。</a:t>
            </a:r>
            <a:endParaRPr lang="en-US" altLang="zh-CN" sz="2400" b="1" dirty="0"/>
          </a:p>
          <a:p>
            <a:pPr>
              <a:lnSpc>
                <a:spcPct val="150000"/>
              </a:lnSpc>
            </a:pPr>
            <a:endParaRPr lang="zh-CN" altLang="en-US" sz="1800" b="1" dirty="0"/>
          </a:p>
        </p:txBody>
      </p:sp>
      <p:sp>
        <p:nvSpPr>
          <p:cNvPr id="6" name="文本框 1">
            <a:extLst>
              <a:ext uri="{FF2B5EF4-FFF2-40B4-BE49-F238E27FC236}">
                <a16:creationId xmlns:a16="http://schemas.microsoft.com/office/drawing/2014/main" id="{7C0C724F-F766-413A-9034-41D1BA473D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6917" y="3429000"/>
            <a:ext cx="9288489" cy="17005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b="1" dirty="0"/>
              <a:t>4. </a:t>
            </a:r>
            <a:r>
              <a:rPr lang="zh-CN" altLang="zh-CN" b="1" dirty="0"/>
              <a:t>设有一个无记忆信源发出符号</a:t>
            </a:r>
            <a:r>
              <a:rPr lang="en-US" altLang="zh-CN" b="1" dirty="0"/>
              <a:t>A</a:t>
            </a:r>
            <a:r>
              <a:rPr lang="zh-CN" altLang="zh-CN" b="1" dirty="0"/>
              <a:t>和</a:t>
            </a:r>
            <a:r>
              <a:rPr lang="en-US" altLang="zh-CN" b="1" dirty="0"/>
              <a:t>B</a:t>
            </a:r>
            <a:r>
              <a:rPr lang="zh-CN" altLang="zh-CN" b="1" dirty="0"/>
              <a:t>，已知</a:t>
            </a:r>
            <a:r>
              <a:rPr lang="en-US" altLang="zh-CN" b="1" dirty="0"/>
              <a:t>                                    </a:t>
            </a:r>
            <a:r>
              <a:rPr lang="zh-CN" altLang="en-US" b="1" dirty="0"/>
              <a:t>（</a:t>
            </a:r>
            <a:r>
              <a:rPr lang="en-US" altLang="zh-CN" b="1" dirty="0"/>
              <a:t>1</a:t>
            </a:r>
            <a:r>
              <a:rPr lang="zh-CN" altLang="en-US" b="1" dirty="0"/>
              <a:t>）</a:t>
            </a:r>
            <a:r>
              <a:rPr lang="zh-CN" altLang="zh-CN" b="1" dirty="0"/>
              <a:t>计算该信源熵；</a:t>
            </a:r>
            <a:r>
              <a:rPr lang="zh-CN" altLang="en-US" b="1" dirty="0"/>
              <a:t>（</a:t>
            </a:r>
            <a:r>
              <a:rPr lang="en-US" altLang="zh-CN" b="1" dirty="0"/>
              <a:t>2</a:t>
            </a:r>
            <a:r>
              <a:rPr lang="zh-CN" altLang="en-US" b="1" dirty="0"/>
              <a:t>）对</a:t>
            </a:r>
            <a:r>
              <a:rPr lang="zh-CN" altLang="zh-CN" b="1" dirty="0"/>
              <a:t>该信源</a:t>
            </a:r>
            <a:r>
              <a:rPr lang="zh-CN" altLang="en-US" b="1" dirty="0"/>
              <a:t>做二维扩展，并对扩展后的信源进行二进制</a:t>
            </a:r>
            <a:r>
              <a:rPr lang="zh-CN" altLang="zh-CN" b="1" dirty="0"/>
              <a:t>霍夫曼编码，求其平均信息传输率</a:t>
            </a:r>
            <a:r>
              <a:rPr lang="zh-CN" altLang="en-US" b="1" dirty="0"/>
              <a:t>和编码效率</a:t>
            </a:r>
            <a:r>
              <a:rPr lang="zh-CN" altLang="zh-CN" b="1" dirty="0"/>
              <a:t>；</a:t>
            </a:r>
            <a:r>
              <a:rPr lang="zh-CN" altLang="en-US" b="1" dirty="0"/>
              <a:t>（</a:t>
            </a:r>
            <a:r>
              <a:rPr lang="en-US" altLang="zh-CN" b="1" dirty="0"/>
              <a:t>3</a:t>
            </a:r>
            <a:r>
              <a:rPr lang="zh-CN" altLang="en-US" b="1" dirty="0"/>
              <a:t>）对</a:t>
            </a:r>
            <a:r>
              <a:rPr lang="zh-CN" altLang="zh-CN" b="1" dirty="0"/>
              <a:t>该信源</a:t>
            </a:r>
            <a:r>
              <a:rPr lang="zh-CN" altLang="en-US" b="1" dirty="0"/>
              <a:t>进行三维扩展，并对扩展后的信源分别进行二进制香农编码和</a:t>
            </a:r>
            <a:r>
              <a:rPr lang="zh-CN" altLang="zh-CN" b="1" dirty="0"/>
              <a:t>霍夫曼编码，求其平均信息传输率</a:t>
            </a:r>
            <a:r>
              <a:rPr lang="zh-CN" altLang="en-US" b="1" dirty="0"/>
              <a:t>和编码效率</a:t>
            </a:r>
            <a:r>
              <a:rPr lang="zh-CN" altLang="zh-CN" b="1" dirty="0"/>
              <a:t>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对象 6">
                <a:extLst>
                  <a:ext uri="{FF2B5EF4-FFF2-40B4-BE49-F238E27FC236}">
                    <a16:creationId xmlns:a16="http://schemas.microsoft.com/office/drawing/2014/main" id="{78BF1DBA-B432-481F-90E5-02BD69549474}"/>
                  </a:ext>
                </a:extLst>
              </p:cNvPr>
              <p:cNvSpPr txBox="1"/>
              <p:nvPr/>
            </p:nvSpPr>
            <p:spPr bwMode="auto">
              <a:xfrm>
                <a:off x="5920127" y="3448879"/>
                <a:ext cx="2189162" cy="347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zh-CN" alt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zh-CN" alt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zh-CN" alt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zh-CN" alt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zh-CN" alt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zh-CN" alt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US" altLang="zh-CN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8" name="对象 6">
                <a:extLst>
                  <a:ext uri="{FF2B5EF4-FFF2-40B4-BE49-F238E27FC236}">
                    <a16:creationId xmlns:a16="http://schemas.microsoft.com/office/drawing/2014/main" id="{78BF1DBA-B432-481F-90E5-02BD695494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20127" y="3448879"/>
                <a:ext cx="2189162" cy="347662"/>
              </a:xfrm>
              <a:prstGeom prst="rect">
                <a:avLst/>
              </a:prstGeom>
              <a:blipFill>
                <a:blip r:embed="rId2"/>
                <a:stretch>
                  <a:fillRect b="-2631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85894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5">
            <a:extLst>
              <a:ext uri="{FF2B5EF4-FFF2-40B4-BE49-F238E27FC236}">
                <a16:creationId xmlns:a16="http://schemas.microsoft.com/office/drawing/2014/main" id="{F1B5F8F7-6FBC-4D5D-93C7-9BE4C2642F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488" y="1268413"/>
            <a:ext cx="11209337" cy="23332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2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ea typeface="宋体" panose="02010600030101010101" pitchFamily="2" charset="-122"/>
              </a:rPr>
              <a:t>4</a:t>
            </a:r>
            <a:r>
              <a:rPr lang="zh-CN" altLang="en-US" sz="2000" b="1" dirty="0">
                <a:ea typeface="宋体" panose="02010600030101010101" pitchFamily="2" charset="-122"/>
              </a:rPr>
              <a:t>：傅祖芸书习题</a:t>
            </a:r>
            <a:r>
              <a:rPr lang="en-US" altLang="zh-CN" sz="2000" b="1" dirty="0">
                <a:ea typeface="宋体" panose="02010600030101010101" pitchFamily="2" charset="-122"/>
              </a:rPr>
              <a:t>— p288-8.9</a:t>
            </a:r>
          </a:p>
          <a:p>
            <a:pPr eaLnBrk="1" hangingPunct="1">
              <a:lnSpc>
                <a:spcPct val="2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ea typeface="宋体" panose="02010600030101010101" pitchFamily="2" charset="-122"/>
              </a:rPr>
              <a:t>5</a:t>
            </a:r>
            <a:r>
              <a:rPr lang="zh-CN" altLang="en-US" sz="2000" b="1" dirty="0">
                <a:ea typeface="宋体" panose="02010600030101010101" pitchFamily="2" charset="-122"/>
              </a:rPr>
              <a:t>：傅祖芸书习题</a:t>
            </a:r>
            <a:r>
              <a:rPr lang="en-US" altLang="zh-CN" sz="2000" b="1" dirty="0">
                <a:ea typeface="宋体" panose="02010600030101010101" pitchFamily="2" charset="-122"/>
              </a:rPr>
              <a:t>— p289-8.11</a:t>
            </a:r>
          </a:p>
          <a:p>
            <a:pPr lvl="1">
              <a:lnSpc>
                <a:spcPct val="200000"/>
              </a:lnSpc>
              <a:spcBef>
                <a:spcPct val="0"/>
              </a:spcBef>
              <a:buClrTx/>
              <a:buNone/>
            </a:pPr>
            <a:r>
              <a:rPr lang="en-US" altLang="zh-CN" sz="1600" b="1" dirty="0">
                <a:ea typeface="宋体" panose="02010600030101010101" pitchFamily="2" charset="-122"/>
              </a:rPr>
              <a:t>                                </a:t>
            </a:r>
            <a:r>
              <a:rPr lang="zh-CN" altLang="en-US" sz="1600" b="1" dirty="0">
                <a:ea typeface="宋体" panose="02010600030101010101" pitchFamily="2" charset="-122"/>
              </a:rPr>
              <a:t>（只做（</a:t>
            </a:r>
            <a:r>
              <a:rPr lang="en-US" altLang="zh-CN" sz="1600" b="1" dirty="0">
                <a:ea typeface="宋体" panose="02010600030101010101" pitchFamily="2" charset="-122"/>
              </a:rPr>
              <a:t>1</a:t>
            </a:r>
            <a:r>
              <a:rPr lang="zh-CN" altLang="en-US" sz="1600" b="1" dirty="0">
                <a:ea typeface="宋体" panose="02010600030101010101" pitchFamily="2" charset="-122"/>
              </a:rPr>
              <a:t>）、（</a:t>
            </a:r>
            <a:r>
              <a:rPr lang="en-US" altLang="zh-CN" sz="1600" b="1" dirty="0">
                <a:ea typeface="宋体" panose="02010600030101010101" pitchFamily="2" charset="-122"/>
              </a:rPr>
              <a:t>2</a:t>
            </a:r>
            <a:r>
              <a:rPr lang="zh-CN" altLang="en-US" sz="1600" b="1" dirty="0">
                <a:ea typeface="宋体" panose="02010600030101010101" pitchFamily="2" charset="-122"/>
              </a:rPr>
              <a:t>）、（</a:t>
            </a:r>
            <a:r>
              <a:rPr lang="en-US" altLang="zh-CN" sz="1600" b="1" dirty="0">
                <a:ea typeface="宋体" panose="02010600030101010101" pitchFamily="2" charset="-122"/>
              </a:rPr>
              <a:t>4</a:t>
            </a:r>
            <a:r>
              <a:rPr lang="zh-CN" altLang="en-US" sz="1600" b="1" dirty="0">
                <a:ea typeface="宋体" panose="02010600030101010101" pitchFamily="2" charset="-122"/>
              </a:rPr>
              <a:t>），其中（</a:t>
            </a:r>
            <a:r>
              <a:rPr lang="en-US" altLang="zh-CN" sz="1600" b="1" dirty="0">
                <a:ea typeface="宋体" panose="02010600030101010101" pitchFamily="2" charset="-122"/>
              </a:rPr>
              <a:t>4</a:t>
            </a:r>
            <a:r>
              <a:rPr lang="zh-CN" altLang="en-US" sz="1600" b="1" dirty="0">
                <a:ea typeface="宋体" panose="02010600030101010101" pitchFamily="2" charset="-122"/>
              </a:rPr>
              <a:t>）中比较的编码方法为霍夫曼码和香农码两种）</a:t>
            </a:r>
            <a:endParaRPr lang="en-US" altLang="zh-CN" sz="1600" b="1" dirty="0">
              <a:ea typeface="宋体" panose="02010600030101010101" pitchFamily="2" charset="-122"/>
            </a:endParaRPr>
          </a:p>
          <a:p>
            <a:pPr eaLnBrk="1" hangingPunct="1">
              <a:lnSpc>
                <a:spcPct val="2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ea typeface="宋体" panose="02010600030101010101" pitchFamily="2" charset="-122"/>
              </a:rPr>
              <a:t>6</a:t>
            </a:r>
            <a:r>
              <a:rPr lang="zh-CN" altLang="en-US" sz="2000" b="1" dirty="0">
                <a:ea typeface="宋体" panose="02010600030101010101" pitchFamily="2" charset="-122"/>
              </a:rPr>
              <a:t>：傅祖芸书习题</a:t>
            </a:r>
            <a:r>
              <a:rPr lang="en-US" altLang="zh-CN" sz="2000" b="1" dirty="0">
                <a:ea typeface="宋体" panose="02010600030101010101" pitchFamily="2" charset="-122"/>
              </a:rPr>
              <a:t>— P289-8.14</a:t>
            </a:r>
            <a:r>
              <a:rPr lang="zh-CN" altLang="en-US" sz="2000" b="1" dirty="0">
                <a:ea typeface="宋体" panose="02010600030101010101" pitchFamily="2" charset="-122"/>
              </a:rPr>
              <a:t>（码表见</a:t>
            </a:r>
            <a:r>
              <a:rPr lang="en-US" altLang="zh-CN" sz="2000" b="1" dirty="0">
                <a:ea typeface="宋体" panose="02010600030101010101" pitchFamily="2" charset="-122"/>
              </a:rPr>
              <a:t>P272</a:t>
            </a:r>
            <a:r>
              <a:rPr lang="en-US" altLang="zh-CN" sz="2000" b="1" dirty="0">
                <a:ea typeface="宋体" panose="02010600030101010101" pitchFamily="2" charset="-122"/>
                <a:sym typeface="Wingdings" panose="05000000000000000000" pitchFamily="2" charset="2"/>
              </a:rPr>
              <a:t></a:t>
            </a:r>
            <a:r>
              <a:rPr lang="zh-CN" altLang="en-US" sz="2000" b="1" dirty="0">
                <a:ea typeface="宋体" panose="02010600030101010101" pitchFamily="2" charset="-122"/>
                <a:sym typeface="Wingdings" panose="05000000000000000000" pitchFamily="2" charset="2"/>
              </a:rPr>
              <a:t>表</a:t>
            </a:r>
            <a:r>
              <a:rPr lang="en-US" altLang="zh-CN" sz="2000" b="1" dirty="0">
                <a:ea typeface="宋体" panose="02010600030101010101" pitchFamily="2" charset="-122"/>
              </a:rPr>
              <a:t>8.8~</a:t>
            </a:r>
            <a:r>
              <a:rPr lang="zh-CN" altLang="en-US" sz="2000" b="1" dirty="0">
                <a:ea typeface="宋体" panose="02010600030101010101" pitchFamily="2" charset="-122"/>
              </a:rPr>
              <a:t>表</a:t>
            </a:r>
            <a:r>
              <a:rPr lang="en-US" altLang="zh-CN" sz="2000" b="1" dirty="0">
                <a:ea typeface="宋体" panose="02010600030101010101" pitchFamily="2" charset="-122"/>
              </a:rPr>
              <a:t>8.10</a:t>
            </a:r>
            <a:r>
              <a:rPr lang="zh-CN" altLang="en-US" sz="2000" b="1" dirty="0">
                <a:ea typeface="宋体" panose="02010600030101010101" pitchFamily="2" charset="-12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4413521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462</Words>
  <Application>Microsoft Macintosh PowerPoint</Application>
  <PresentationFormat>Widescreen</PresentationFormat>
  <Paragraphs>23</Paragraphs>
  <Slides>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等线</vt:lpstr>
      <vt:lpstr>等线 Light</vt:lpstr>
      <vt:lpstr>Arial</vt:lpstr>
      <vt:lpstr>Cambria Math</vt:lpstr>
      <vt:lpstr>Verdana</vt:lpstr>
      <vt:lpstr>Wingdings</vt:lpstr>
      <vt:lpstr>Office 主题​​</vt:lpstr>
      <vt:lpstr>Equation</vt:lpstr>
      <vt:lpstr>CH3-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作业-3</dc:title>
  <dc:creator>杨杰</dc:creator>
  <cp:lastModifiedBy>Ying Ma</cp:lastModifiedBy>
  <cp:revision>16</cp:revision>
  <dcterms:created xsi:type="dcterms:W3CDTF">2019-04-17T03:58:50Z</dcterms:created>
  <dcterms:modified xsi:type="dcterms:W3CDTF">2024-04-12T02:55:43Z</dcterms:modified>
</cp:coreProperties>
</file>