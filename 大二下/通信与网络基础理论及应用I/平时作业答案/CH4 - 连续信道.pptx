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1064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145" autoAdjust="0"/>
    <p:restoredTop sz="94660"/>
  </p:normalViewPr>
  <p:slideViewPr>
    <p:cSldViewPr snapToGrid="0">
      <p:cViewPr varScale="1">
        <p:scale>
          <a:sx n="64" d="100"/>
          <a:sy n="64" d="100"/>
        </p:scale>
        <p:origin x="57" y="54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A4B7C4-29C1-4652-A310-A677AC606D75}" type="datetimeFigureOut">
              <a:rPr lang="zh-CN" altLang="en-US" smtClean="0"/>
              <a:t>2025/5/3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EA5057-0E80-48D2-B18F-E4D71FD210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4115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0AD61-F17C-4DD6-A7F3-562B06054218}" type="datetimeFigureOut">
              <a:rPr lang="zh-CN" altLang="en-US" smtClean="0"/>
              <a:t>2025/5/3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458D2-C73A-42B3-8389-76905FB348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9220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0AD61-F17C-4DD6-A7F3-562B06054218}" type="datetimeFigureOut">
              <a:rPr lang="zh-CN" altLang="en-US" smtClean="0"/>
              <a:t>2025/5/3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458D2-C73A-42B3-8389-76905FB348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522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0AD61-F17C-4DD6-A7F3-562B06054218}" type="datetimeFigureOut">
              <a:rPr lang="zh-CN" altLang="en-US" smtClean="0"/>
              <a:t>2025/5/3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458D2-C73A-42B3-8389-76905FB348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2596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0AD61-F17C-4DD6-A7F3-562B06054218}" type="datetimeFigureOut">
              <a:rPr lang="zh-CN" altLang="en-US" smtClean="0"/>
              <a:t>2025/5/3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458D2-C73A-42B3-8389-76905FB348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10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0AD61-F17C-4DD6-A7F3-562B06054218}" type="datetimeFigureOut">
              <a:rPr lang="zh-CN" altLang="en-US" smtClean="0"/>
              <a:t>2025/5/3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458D2-C73A-42B3-8389-76905FB348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8115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0AD61-F17C-4DD6-A7F3-562B06054218}" type="datetimeFigureOut">
              <a:rPr lang="zh-CN" altLang="en-US" smtClean="0"/>
              <a:t>2025/5/3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458D2-C73A-42B3-8389-76905FB348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3126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0AD61-F17C-4DD6-A7F3-562B06054218}" type="datetimeFigureOut">
              <a:rPr lang="zh-CN" altLang="en-US" smtClean="0"/>
              <a:t>2025/5/3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458D2-C73A-42B3-8389-76905FB348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6681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0AD61-F17C-4DD6-A7F3-562B06054218}" type="datetimeFigureOut">
              <a:rPr lang="zh-CN" altLang="en-US" smtClean="0"/>
              <a:t>2025/5/3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458D2-C73A-42B3-8389-76905FB348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1878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0AD61-F17C-4DD6-A7F3-562B06054218}" type="datetimeFigureOut">
              <a:rPr lang="zh-CN" altLang="en-US" smtClean="0"/>
              <a:t>2025/5/3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458D2-C73A-42B3-8389-76905FB348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9384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0AD61-F17C-4DD6-A7F3-562B06054218}" type="datetimeFigureOut">
              <a:rPr lang="zh-CN" altLang="en-US" smtClean="0"/>
              <a:t>2025/5/3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458D2-C73A-42B3-8389-76905FB348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07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0AD61-F17C-4DD6-A7F3-562B06054218}" type="datetimeFigureOut">
              <a:rPr lang="zh-CN" altLang="en-US" smtClean="0"/>
              <a:t>2025/5/3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458D2-C73A-42B3-8389-76905FB348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3834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0AD61-F17C-4DD6-A7F3-562B06054218}" type="datetimeFigureOut">
              <a:rPr lang="zh-CN" altLang="en-US" smtClean="0"/>
              <a:t>2025/5/3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D458D2-C73A-42B3-8389-76905FB3487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AF2C41-C240-41DE-9150-5845C196C01B}"/>
              </a:ext>
            </a:extLst>
          </p:cNvPr>
          <p:cNvSpPr txBox="1"/>
          <p:nvPr userDrawn="1"/>
        </p:nvSpPr>
        <p:spPr>
          <a:xfrm>
            <a:off x="9982200" y="136525"/>
            <a:ext cx="2053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BIT-</a:t>
            </a:r>
            <a:r>
              <a:rPr lang="zh-CN" altLang="en-US" b="1" dirty="0"/>
              <a:t>杨杰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2CF240-816F-4920-8C3C-31BB717A5E1B}"/>
              </a:ext>
            </a:extLst>
          </p:cNvPr>
          <p:cNvSpPr txBox="1"/>
          <p:nvPr userDrawn="1"/>
        </p:nvSpPr>
        <p:spPr>
          <a:xfrm>
            <a:off x="126167" y="6412103"/>
            <a:ext cx="2053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b="1" dirty="0"/>
              <a:t>BIT-</a:t>
            </a:r>
            <a:r>
              <a:rPr lang="zh-CN" altLang="en-US" b="1" dirty="0"/>
              <a:t>杨杰</a:t>
            </a:r>
          </a:p>
        </p:txBody>
      </p:sp>
    </p:spTree>
    <p:extLst>
      <p:ext uri="{BB962C8B-B14F-4D97-AF65-F5344CB8AC3E}">
        <p14:creationId xmlns:p14="http://schemas.microsoft.com/office/powerpoint/2010/main" val="872425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文本框 1">
            <a:extLst>
              <a:ext uri="{FF2B5EF4-FFF2-40B4-BE49-F238E27FC236}">
                <a16:creationId xmlns:a16="http://schemas.microsoft.com/office/drawing/2014/main" id="{0C874C31-E938-462A-9977-7CD29F017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338" y="140495"/>
            <a:ext cx="83470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/>
              <a:t>1. </a:t>
            </a:r>
            <a:r>
              <a:rPr lang="zh-CN" altLang="en-US" sz="2000" b="1" dirty="0"/>
              <a:t>求以下信道的信道容量</a:t>
            </a:r>
          </a:p>
        </p:txBody>
      </p:sp>
      <p:pic>
        <p:nvPicPr>
          <p:cNvPr id="45059" name="图片 2">
            <a:extLst>
              <a:ext uri="{FF2B5EF4-FFF2-40B4-BE49-F238E27FC236}">
                <a16:creationId xmlns:a16="http://schemas.microsoft.com/office/drawing/2014/main" id="{2CECE91B-8B0D-459E-B95D-8044DB633E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6478" y="799867"/>
            <a:ext cx="2392363" cy="160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0" name="图片 3">
            <a:extLst>
              <a:ext uri="{FF2B5EF4-FFF2-40B4-BE49-F238E27FC236}">
                <a16:creationId xmlns:a16="http://schemas.microsoft.com/office/drawing/2014/main" id="{7AC16236-9130-49A1-AF34-48CFA48645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107" y="599203"/>
            <a:ext cx="20574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1" name="图片 4">
            <a:extLst>
              <a:ext uri="{FF2B5EF4-FFF2-40B4-BE49-F238E27FC236}">
                <a16:creationId xmlns:a16="http://schemas.microsoft.com/office/drawing/2014/main" id="{5EC06876-6F20-493A-B7FE-BD56484283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3874" y="787401"/>
            <a:ext cx="2195513" cy="172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文本框 1">
            <a:extLst>
              <a:ext uri="{FF2B5EF4-FFF2-40B4-BE49-F238E27FC236}">
                <a16:creationId xmlns:a16="http://schemas.microsoft.com/office/drawing/2014/main" id="{20AD3C49-4403-4BE7-B905-D89F4B832B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743" y="2508251"/>
            <a:ext cx="11811000" cy="1879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b="1" dirty="0"/>
              <a:t>2. </a:t>
            </a:r>
            <a:r>
              <a:rPr lang="zh-CN" altLang="zh-CN" sz="2000" b="1" dirty="0"/>
              <a:t>彩色电视显象管的屏幕上有</a:t>
            </a:r>
            <a:r>
              <a:rPr lang="en-US" altLang="zh-CN" sz="2000" b="1" dirty="0"/>
              <a:t>5</a:t>
            </a:r>
            <a:r>
              <a:rPr lang="zh-CN" altLang="zh-CN" sz="2000" b="1" dirty="0"/>
              <a:t>×</a:t>
            </a:r>
            <a:r>
              <a:rPr lang="en-US" altLang="zh-CN" sz="2000" b="1" dirty="0"/>
              <a:t>10</a:t>
            </a:r>
            <a:r>
              <a:rPr lang="en-US" altLang="zh-CN" sz="2000" b="1" baseline="30000" dirty="0"/>
              <a:t>5</a:t>
            </a:r>
            <a:r>
              <a:rPr lang="zh-CN" altLang="zh-CN" sz="2000" b="1" dirty="0"/>
              <a:t>个象元，设每个象元有</a:t>
            </a:r>
            <a:r>
              <a:rPr lang="en-US" altLang="zh-CN" sz="2000" b="1" dirty="0"/>
              <a:t>64</a:t>
            </a:r>
            <a:r>
              <a:rPr lang="zh-CN" altLang="zh-CN" sz="2000" b="1" dirty="0"/>
              <a:t>种彩色度，每种彩度又有</a:t>
            </a:r>
            <a:r>
              <a:rPr lang="en-US" altLang="zh-CN" sz="2000" b="1" dirty="0"/>
              <a:t>16</a:t>
            </a:r>
            <a:r>
              <a:rPr lang="zh-CN" altLang="zh-CN" sz="2000" b="1" dirty="0"/>
              <a:t>种不同的亮度层次，如果所有的彩色品种和亮度层次的组合均以等概率出现，并且各个组合之间相互独立。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zh-CN" altLang="zh-CN" sz="2000" b="1" dirty="0"/>
              <a:t>①计算每秒传送</a:t>
            </a:r>
            <a:r>
              <a:rPr lang="en-US" altLang="zh-CN" sz="2000" b="1" dirty="0"/>
              <a:t>25</a:t>
            </a:r>
            <a:r>
              <a:rPr lang="zh-CN" altLang="zh-CN" sz="2000" b="1" dirty="0"/>
              <a:t>帧图象所需要的信道容量；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zh-CN" altLang="zh-CN" sz="2000" b="1" dirty="0"/>
              <a:t>②如果信道上信号与噪声平均功率的比值为</a:t>
            </a:r>
            <a:r>
              <a:rPr lang="en-US" altLang="zh-CN" sz="2000" b="1" dirty="0"/>
              <a:t>30dB</a:t>
            </a:r>
            <a:r>
              <a:rPr lang="zh-CN" altLang="zh-CN" sz="2000" b="1" dirty="0"/>
              <a:t>，为实时传送彩色电视的图象，信道的</a:t>
            </a:r>
            <a:r>
              <a:rPr lang="zh-CN" altLang="en-US" sz="2000" b="1" dirty="0"/>
              <a:t>带宽</a:t>
            </a:r>
            <a:r>
              <a:rPr lang="zh-CN" altLang="zh-CN" sz="2000" b="1" dirty="0"/>
              <a:t>应为多大？</a:t>
            </a:r>
            <a:endParaRPr lang="en-US" altLang="zh-CN" sz="2000" b="1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EE066A58-600D-4E35-A331-4E6C2C6E58EF}"/>
              </a:ext>
            </a:extLst>
          </p:cNvPr>
          <p:cNvSpPr txBox="1">
            <a:spLocks noChangeArrowheads="1"/>
          </p:cNvSpPr>
          <p:nvPr/>
        </p:nvSpPr>
        <p:spPr>
          <a:xfrm>
            <a:off x="328338" y="4573379"/>
            <a:ext cx="11856719" cy="11509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sz="2000" b="1" dirty="0"/>
              <a:t>3</a:t>
            </a:r>
            <a:r>
              <a:rPr lang="zh-CN" altLang="en-US" sz="2000" b="1" dirty="0"/>
              <a:t>、给定信噪比</a:t>
            </a:r>
            <a:r>
              <a:rPr lang="en-US" altLang="zh-CN" sz="2000" b="1" dirty="0"/>
              <a:t>E</a:t>
            </a:r>
            <a:r>
              <a:rPr lang="en-US" altLang="zh-CN" sz="2000" b="1" baseline="-25000" dirty="0"/>
              <a:t>b</a:t>
            </a:r>
            <a:r>
              <a:rPr lang="en-US" altLang="zh-CN" sz="2000" b="1" dirty="0"/>
              <a:t>/N</a:t>
            </a:r>
            <a:r>
              <a:rPr lang="en-US" altLang="zh-CN" sz="2000" b="1" baseline="-25000" dirty="0"/>
              <a:t>0</a:t>
            </a:r>
            <a:r>
              <a:rPr lang="en-US" altLang="zh-CN" sz="2000" b="1" dirty="0"/>
              <a:t>=25dB</a:t>
            </a:r>
            <a:r>
              <a:rPr lang="zh-CN" altLang="en-US" sz="2000" b="1" dirty="0"/>
              <a:t>，信道带宽分别为</a:t>
            </a:r>
            <a:r>
              <a:rPr lang="en-US" altLang="zh-CN" sz="2000" b="1" dirty="0"/>
              <a:t>100KHz</a:t>
            </a:r>
            <a:r>
              <a:rPr lang="zh-CN" altLang="en-US" sz="2000" b="1" dirty="0"/>
              <a:t>和</a:t>
            </a:r>
            <a:r>
              <a:rPr lang="en-US" altLang="zh-CN" sz="2000" b="1" dirty="0"/>
              <a:t>10KHz</a:t>
            </a:r>
            <a:r>
              <a:rPr lang="zh-CN" altLang="en-US" sz="2000" b="1" dirty="0"/>
              <a:t>，问能否可靠传输速率为</a:t>
            </a:r>
            <a:r>
              <a:rPr lang="en-US" altLang="zh-CN" sz="2000" b="1" dirty="0"/>
              <a:t>1Mbps</a:t>
            </a:r>
            <a:r>
              <a:rPr lang="zh-CN" altLang="en-US" sz="2000" b="1" dirty="0"/>
              <a:t>的数据？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FF39C01C-955C-49DF-BFB7-0204ABC6BC64}"/>
              </a:ext>
            </a:extLst>
          </p:cNvPr>
          <p:cNvSpPr txBox="1">
            <a:spLocks noChangeArrowheads="1"/>
          </p:cNvSpPr>
          <p:nvPr/>
        </p:nvSpPr>
        <p:spPr>
          <a:xfrm>
            <a:off x="358024" y="5318552"/>
            <a:ext cx="11747837" cy="172878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000" b="1" dirty="0"/>
              <a:t>4</a:t>
            </a:r>
            <a:r>
              <a:rPr lang="zh-CN" altLang="en-US" sz="2000" b="1" dirty="0"/>
              <a:t>、设</a:t>
            </a:r>
            <a:r>
              <a:rPr lang="zh-CN" altLang="en-US" sz="2000" b="1" u="sng" dirty="0">
                <a:solidFill>
                  <a:srgbClr val="CC3300"/>
                </a:solidFill>
              </a:rPr>
              <a:t>一时间离散，幅度连续的</a:t>
            </a:r>
            <a:r>
              <a:rPr lang="zh-CN" altLang="en-US" sz="2000" b="1" dirty="0"/>
              <a:t>无记忆信道的输入是一个零均值，方差为</a:t>
            </a:r>
            <a:r>
              <a:rPr lang="en-US" altLang="zh-CN" sz="2000" b="1" dirty="0"/>
              <a:t>E</a:t>
            </a:r>
            <a:r>
              <a:rPr lang="zh-CN" altLang="en-US" sz="2000" b="1" dirty="0"/>
              <a:t>的高斯随机变量，信道噪声为加性高斯噪声，方差为           ，信道传输速率为</a:t>
            </a:r>
            <a:r>
              <a:rPr lang="en-US" altLang="zh-CN" sz="2000" b="1" dirty="0"/>
              <a:t>8000</a:t>
            </a:r>
            <a:r>
              <a:rPr lang="zh-CN" altLang="en-US" sz="2000" b="1" dirty="0"/>
              <a:t>符号</a:t>
            </a:r>
            <a:r>
              <a:rPr lang="en-US" altLang="zh-CN" sz="2000" b="1" dirty="0"/>
              <a:t>/</a:t>
            </a:r>
            <a:r>
              <a:rPr lang="zh-CN" altLang="en-US" sz="2000" b="1" dirty="0"/>
              <a:t>秒。如令一路电话通过该信道，电话机产生的信息率为</a:t>
            </a:r>
            <a:r>
              <a:rPr lang="en-US" altLang="zh-CN" sz="2000" b="1" dirty="0"/>
              <a:t>64 kbps</a:t>
            </a:r>
            <a:r>
              <a:rPr lang="zh-CN" altLang="en-US" sz="2000" b="1" dirty="0"/>
              <a:t>，求输入信号功率</a:t>
            </a:r>
            <a:r>
              <a:rPr lang="en-US" altLang="zh-CN" sz="2000" b="1" dirty="0"/>
              <a:t>E</a:t>
            </a:r>
            <a:r>
              <a:rPr lang="zh-CN" altLang="en-US" sz="2000" b="1" dirty="0"/>
              <a:t>的最小值。</a:t>
            </a:r>
          </a:p>
        </p:txBody>
      </p:sp>
      <p:graphicFrame>
        <p:nvGraphicFramePr>
          <p:cNvPr id="14" name="Object 4">
            <a:extLst>
              <a:ext uri="{FF2B5EF4-FFF2-40B4-BE49-F238E27FC236}">
                <a16:creationId xmlns:a16="http://schemas.microsoft.com/office/drawing/2014/main" id="{416A5CB6-56A6-4983-9365-C173594539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4272060"/>
              </p:ext>
            </p:extLst>
          </p:nvPr>
        </p:nvGraphicFramePr>
        <p:xfrm>
          <a:off x="2973306" y="5780039"/>
          <a:ext cx="841217" cy="4029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09713" imgH="171529" progId="Equation.DSMT4">
                  <p:embed/>
                </p:oleObj>
              </mc:Choice>
              <mc:Fallback>
                <p:oleObj name="Equation" r:id="rId5" imgW="609713" imgH="171529" progId="Equation.DSMT4">
                  <p:embed/>
                  <p:pic>
                    <p:nvPicPr>
                      <p:cNvPr id="49155" name="Object 4">
                        <a:extLst>
                          <a:ext uri="{FF2B5EF4-FFF2-40B4-BE49-F238E27FC236}">
                            <a16:creationId xmlns:a16="http://schemas.microsoft.com/office/drawing/2014/main" id="{0737C665-9109-49CF-B762-C64F2D6049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3306" y="5780039"/>
                        <a:ext cx="841217" cy="4029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41413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1403</TotalTime>
  <Words>194</Words>
  <Application>Microsoft Office PowerPoint</Application>
  <PresentationFormat>宽屏</PresentationFormat>
  <Paragraphs>6</Paragraphs>
  <Slides>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Office Theme</vt:lpstr>
      <vt:lpstr>Equation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杨杰</dc:creator>
  <cp:lastModifiedBy>mayingbit2011@163.com</cp:lastModifiedBy>
  <cp:revision>41</cp:revision>
  <dcterms:created xsi:type="dcterms:W3CDTF">2017-05-23T11:30:38Z</dcterms:created>
  <dcterms:modified xsi:type="dcterms:W3CDTF">2025-05-03T03:14:40Z</dcterms:modified>
</cp:coreProperties>
</file>