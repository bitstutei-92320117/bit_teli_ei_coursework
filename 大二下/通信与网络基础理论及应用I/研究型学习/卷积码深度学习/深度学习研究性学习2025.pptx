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8D63D-7B19-DE7C-0114-F910CC52D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117D68-8072-9FCB-C7ED-7CD8FF86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84B5C-6188-C660-979B-7FA28C50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6CD20-647A-DC5C-EB8E-75044B65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EDD2E-9202-95D1-2E84-68F16A95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36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4FE7C-4306-A38B-71D2-F61C8330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24DA9-F4DB-2402-C284-65EA37CEE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0F5F5-6633-5947-AAD2-7D797623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1CCC9-C060-FDD0-2000-50050EDA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50C8C-C9B1-8A42-6022-11B1D6FF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53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03128-180B-B3A0-0975-25FADAC5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D0B55-63C6-B38A-0B8E-6D5A8619A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28FB16-A9FC-61F6-3E15-5D6AE728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8BB96-9E89-E89D-030C-14B9D24F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5D09B-B5EE-0A21-D93A-3A26422D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57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3818B-836F-0CD9-82AB-817D3812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97563-B9A5-DE48-9DDF-CB75FE2BD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E5FE81-F99D-A0AE-A43F-010F3B951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8A4AF-F8DB-3BC7-F77D-966AA0AF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98E8E4-6527-9F29-6CE4-01BAAF0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152BC4-45C0-757F-76F5-6207637C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8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729A6-C595-EAEA-A8E2-B838CBEB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EDDAD-73C7-4517-4B50-8A06C1161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C1568F-BCF1-5DA0-4A8D-E0291CEFC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58C3DC-3FA8-A59D-5844-FCFDF9D51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351326-EFC5-4053-8F55-A226C34E2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21F626-3EEE-38CB-106A-8F0A774D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AC2883-8240-7814-BB28-D0C3401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EECB91-A66F-304C-0037-D70357CA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38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84471-F471-1D7A-1845-EED7C3D2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3DEF16-98B1-C7AE-E977-3D7D0722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C3B38F-18F6-228A-669A-986ECFD8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1078F-A678-600D-3881-9A1326D3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3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2DDF3C-DACF-C436-BA99-AE067A59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5500A9-2E2E-BA31-22F2-1974E102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114661-2B55-E431-C302-9B90AE3D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5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27E49-7397-51D8-4215-C24055BE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21BC3-5C67-0858-CD17-850950A6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A2FC68-844C-2D4C-0285-36290A3B4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6FAAE7-695C-57DD-D920-967AD511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AC2D45-57A4-E260-8168-525C780D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EA3F2D-8F83-119D-044A-8CB7525B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73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F8BFD-2E3A-8C6D-5A95-2842344C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2000F2-548D-9BF9-7C1A-C1EB3E0A4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B42D6F-7D0C-08A2-AD8B-28B31899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3FD16E-DB7C-DB7D-A134-0B4EC057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1A3FBA-3F14-2DEA-F1FD-7F923BD4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838A3A-95A6-F579-BF1A-9531B055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45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47FC4-0AD5-268F-1548-25ADE8CD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5FDD06-C33E-F4C8-4AC1-7DC5DA9FB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7BF96-ED6E-C209-D105-4D0957C2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9D089-2D7D-9619-6D4C-CA19702F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AC055-7AB6-3ADB-AFE8-2F01301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3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EA7CC4-A0A7-61E6-8888-657B11B1C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761741-3B29-2B94-85A9-765DBAE42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6E966-7031-DBDC-FA02-B0F7B297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D12B0-E47B-36BD-10FF-BF0F1D6E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FC7F9-B9D5-24D0-B943-98F3B5D3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45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4BD763-4FD0-0DD6-F155-1C2BBE0D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812C43-6970-7B9A-D3F6-20E7C8267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A021D-D9A9-89AA-4C2F-406A0442B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0E9DE-9CB9-4CC3-85A0-DAFCC0FB40D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8C66-4849-764A-F0BD-A4A04E962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0710F-CB90-C13F-C8BD-792C8858D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2B6A7-2772-4BD1-848B-2FA0DDA0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45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DBFC3-330C-17D5-4EED-6EC72755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基于卷积码的编码识别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EA515-F791-CE55-A9D2-5E080160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1467852"/>
            <a:ext cx="11049000" cy="476525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/>
              <a:t>生成误码率范围在</a:t>
            </a:r>
            <a:r>
              <a:rPr lang="en-US" altLang="zh-CN"/>
              <a:t>[0, 0.1]</a:t>
            </a:r>
            <a:r>
              <a:rPr lang="zh-CN" altLang="en-US"/>
              <a:t>的不同生成多项式的</a:t>
            </a:r>
            <a:r>
              <a:rPr lang="en-US" altLang="zh-CN"/>
              <a:t>[2,1,7]</a:t>
            </a:r>
            <a:r>
              <a:rPr lang="zh-CN" altLang="en-US"/>
              <a:t>卷积码训练集，以下为参数设置参考：</a:t>
            </a:r>
            <a:endParaRPr lang="en-US" altLang="zh-CN"/>
          </a:p>
          <a:p>
            <a:pPr marL="514350" indent="-514350">
              <a:buFont typeface="+mj-lt"/>
              <a:buAutoNum type="arabicPeriod"/>
            </a:pPr>
            <a:endParaRPr lang="en-US" altLang="zh-CN"/>
          </a:p>
          <a:p>
            <a:pPr marL="514350" indent="-514350">
              <a:buFont typeface="+mj-lt"/>
              <a:buAutoNum type="arabicPeriod"/>
            </a:pPr>
            <a:endParaRPr lang="en-US" altLang="zh-CN"/>
          </a:p>
          <a:p>
            <a:pPr marL="514350" indent="-514350">
              <a:buFont typeface="+mj-lt"/>
              <a:buAutoNum type="arabicPeriod"/>
            </a:pP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设计并实现一个神经网络模型，用于自动识别给定信号的卷积码</a:t>
            </a:r>
            <a:r>
              <a:rPr lang="zh-CN" altLang="en-US">
                <a:solidFill>
                  <a:srgbClr val="404040"/>
                </a:solidFill>
                <a:latin typeface="DeepSeek-CJK-patch"/>
              </a:rPr>
              <a:t>生成多项式识别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。可参考网络类型：可选择</a:t>
            </a:r>
            <a:r>
              <a:rPr lang="en-US" altLang="zh-CN" b="0" i="0">
                <a:solidFill>
                  <a:srgbClr val="404040"/>
                </a:solidFill>
                <a:effectLst/>
                <a:latin typeface="DeepSeek-CJK-patch"/>
              </a:rPr>
              <a:t>CNN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、</a:t>
            </a:r>
            <a:r>
              <a:rPr lang="en-US" altLang="zh-CN" b="0" i="0">
                <a:solidFill>
                  <a:srgbClr val="404040"/>
                </a:solidFill>
                <a:effectLst/>
                <a:latin typeface="DeepSeek-CJK-patch"/>
              </a:rPr>
              <a:t>RNN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（如</a:t>
            </a:r>
            <a:r>
              <a:rPr lang="en-US" altLang="zh-CN" b="0" i="0">
                <a:solidFill>
                  <a:srgbClr val="404040"/>
                </a:solidFill>
                <a:effectLst/>
                <a:latin typeface="DeepSeek-CJK-patch"/>
              </a:rPr>
              <a:t>LSTM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）或</a:t>
            </a:r>
            <a:r>
              <a:rPr lang="en-US" altLang="zh-CN" b="0" i="0">
                <a:solidFill>
                  <a:srgbClr val="404040"/>
                </a:solidFill>
                <a:effectLst/>
                <a:latin typeface="DeepSeek-CJK-patch"/>
              </a:rPr>
              <a:t>Transformer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等结构。</a:t>
            </a: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用该神经网络对</a:t>
            </a:r>
            <a:r>
              <a:rPr lang="en-US" altLang="zh-CN">
                <a:solidFill>
                  <a:srgbClr val="404040"/>
                </a:solidFill>
                <a:latin typeface="DeepSeek-CJK-patch"/>
              </a:rPr>
              <a:t>1000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个测试信号（</a:t>
            </a:r>
            <a:r>
              <a:rPr lang="en-US" altLang="zh-CN" b="0" i="0">
                <a:solidFill>
                  <a:srgbClr val="404040"/>
                </a:solidFill>
                <a:effectLst/>
                <a:latin typeface="DeepSeek-CJK-patch"/>
              </a:rPr>
              <a:t>.csv</a:t>
            </a:r>
            <a:r>
              <a:rPr lang="zh-CN" altLang="en-US" b="0" i="0">
                <a:solidFill>
                  <a:srgbClr val="404040"/>
                </a:solidFill>
                <a:effectLst/>
                <a:latin typeface="DeepSeek-CJK-patch"/>
              </a:rPr>
              <a:t>格式）进行分类，输出每个信号的预测标签。</a:t>
            </a:r>
            <a:endParaRPr lang="en-US" altLang="zh-CN">
              <a:solidFill>
                <a:srgbClr val="404040"/>
              </a:solidFill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0" indent="0">
              <a:buNone/>
            </a:pPr>
            <a:endParaRPr lang="zh-CN" alt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0" indent="0">
              <a:buNone/>
            </a:pPr>
            <a:endParaRPr lang="en-US" altLang="zh-CN"/>
          </a:p>
          <a:p>
            <a:pPr marL="514350" indent="-514350">
              <a:buFont typeface="+mj-lt"/>
              <a:buAutoNum type="arabicPeriod"/>
            </a:pPr>
            <a:endParaRPr lang="en-US" altLang="zh-CN"/>
          </a:p>
          <a:p>
            <a:pPr marL="514350" indent="-514350">
              <a:buFont typeface="+mj-lt"/>
              <a:buAutoNum type="arabicPeriod"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5F05F9-49ED-E445-627A-A3300C4AF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50505"/>
              </p:ext>
            </p:extLst>
          </p:nvPr>
        </p:nvGraphicFramePr>
        <p:xfrm>
          <a:off x="2232526" y="2216554"/>
          <a:ext cx="8740274" cy="186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666">
                  <a:extLst>
                    <a:ext uri="{9D8B030D-6E8A-4147-A177-3AD203B41FA5}">
                      <a16:colId xmlns:a16="http://schemas.microsoft.com/office/drawing/2014/main" val="860856758"/>
                    </a:ext>
                  </a:extLst>
                </a:gridCol>
                <a:gridCol w="3424232">
                  <a:extLst>
                    <a:ext uri="{9D8B030D-6E8A-4147-A177-3AD203B41FA5}">
                      <a16:colId xmlns:a16="http://schemas.microsoft.com/office/drawing/2014/main" val="1918476062"/>
                    </a:ext>
                  </a:extLst>
                </a:gridCol>
                <a:gridCol w="4042376">
                  <a:extLst>
                    <a:ext uri="{9D8B030D-6E8A-4147-A177-3AD203B41FA5}">
                      <a16:colId xmlns:a16="http://schemas.microsoft.com/office/drawing/2014/main" val="620253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类别标签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生成多项式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适用场景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81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[1101011, 1111001]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GSM</a:t>
                      </a:r>
                      <a:r>
                        <a:rPr lang="zh-CN" altLang="en-US">
                          <a:effectLst/>
                        </a:rPr>
                        <a:t>、中等噪声环境</a:t>
                      </a:r>
                    </a:p>
                  </a:txBody>
                  <a:tcPr marL="54429" marR="54429" marT="54429" marB="54429" anchor="ctr"/>
                </a:tc>
                <a:extLst>
                  <a:ext uri="{0D108BD9-81ED-4DB2-BD59-A6C34878D82A}">
                    <a16:rowId xmlns:a16="http://schemas.microsoft.com/office/drawing/2014/main" val="427892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[1100101, 1111101]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高可靠性传输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77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[1001111, 1101101]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移动通信（如</a:t>
                      </a:r>
                      <a:r>
                        <a:rPr lang="en-US" altLang="zh-CN"/>
                        <a:t>3G/4G</a:t>
                      </a:r>
                      <a:r>
                        <a:rPr lang="zh-CN" altLang="en-US"/>
                        <a:t>控制信道）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09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[1010111, 1110101]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高速数据链路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22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06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2C9AE4-9F8D-A99A-ADBC-4A5F95FA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414"/>
            <a:ext cx="10515600" cy="58575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/>
              <a:t>作业提交要求</a:t>
            </a:r>
            <a:endParaRPr lang="en-US" altLang="zh-CN"/>
          </a:p>
          <a:p>
            <a:r>
              <a:rPr lang="zh-CN" altLang="en-US"/>
              <a:t>代码文件</a:t>
            </a:r>
            <a:endParaRPr lang="en-US" altLang="zh-CN"/>
          </a:p>
          <a:p>
            <a:r>
              <a:rPr lang="zh-CN" altLang="en-US"/>
              <a:t>测试集预测结果：</a:t>
            </a:r>
            <a:r>
              <a:rPr lang="en-US" altLang="zh-CN"/>
              <a:t>predictions.txt</a:t>
            </a:r>
            <a:r>
              <a:rPr lang="zh-CN" altLang="en-US"/>
              <a:t>，格式参考及标签规定如下：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zh-CN" altLang="en-US" sz="1600"/>
              <a:t>格式参考：</a:t>
            </a:r>
            <a:endParaRPr lang="en-US" altLang="zh-CN" sz="1600"/>
          </a:p>
          <a:p>
            <a:pPr marL="0" indent="0"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0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: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样本1的预测标签（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0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）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rgbClr val="494949"/>
                </a:solidFill>
                <a:latin typeface="Arial Unicode MS"/>
                <a:ea typeface="Menlo"/>
              </a:rPr>
              <a:t> 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1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: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样本2的预测标签（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1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）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rgbClr val="494949"/>
                </a:solidFill>
                <a:latin typeface="Arial Unicode MS"/>
                <a:ea typeface="Menlo"/>
              </a:rPr>
              <a:t>	…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rgbClr val="494949"/>
                </a:solidFill>
                <a:latin typeface="Arial Unicode MS"/>
                <a:ea typeface="Menlo"/>
              </a:rPr>
              <a:t>     1000: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样本</a:t>
            </a:r>
            <a:r>
              <a:rPr lang="en-US" altLang="zh-CN" sz="1600">
                <a:solidFill>
                  <a:srgbClr val="494949"/>
                </a:solidFill>
                <a:latin typeface="Arial Unicode MS"/>
                <a:ea typeface="Menlo"/>
              </a:rPr>
              <a:t>1000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的预测标签（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2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）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zh-CN" altLang="en-US"/>
              <a:t>模型性能参数：</a:t>
            </a:r>
            <a:r>
              <a:rPr lang="en-US" altLang="zh-CN"/>
              <a:t>params.txt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模型结构及模型参数量（包括模型总参数量、可训练参数量）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训练时间（包括训练轮次、训练时间）</a:t>
            </a:r>
            <a:endParaRPr lang="en-US" altLang="zh-CN"/>
          </a:p>
          <a:p>
            <a:r>
              <a:rPr lang="zh-CN" altLang="en-US"/>
              <a:t>制作</a:t>
            </a:r>
            <a:r>
              <a:rPr lang="en-US" altLang="zh-CN"/>
              <a:t>20</a:t>
            </a:r>
            <a:r>
              <a:rPr lang="zh-CN" altLang="en-US"/>
              <a:t>分钟</a:t>
            </a:r>
            <a:r>
              <a:rPr lang="en-US" altLang="zh-CN"/>
              <a:t>PPT</a:t>
            </a:r>
            <a:r>
              <a:rPr lang="zh-CN" altLang="en-US"/>
              <a:t>用于课堂演示，内容包括：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500"/>
              <a:t>组内成员分工</a:t>
            </a:r>
            <a:endParaRPr lang="en-US" altLang="zh-CN" sz="250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500"/>
              <a:t>编程思路或程序流程、网络结构展示（无需程序代码讲解）</a:t>
            </a:r>
            <a:endParaRPr lang="en-US" altLang="zh-CN" sz="250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500"/>
              <a:t>参考文献</a:t>
            </a:r>
            <a:endParaRPr lang="en-US" altLang="zh-CN" sz="2500"/>
          </a:p>
        </p:txBody>
      </p:sp>
    </p:spTree>
    <p:extLst>
      <p:ext uri="{BB962C8B-B14F-4D97-AF65-F5344CB8AC3E}">
        <p14:creationId xmlns:p14="http://schemas.microsoft.com/office/powerpoint/2010/main" val="260186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4312</TotalTime>
  <Words>259</Words>
  <Application>Microsoft Office PowerPoint</Application>
  <PresentationFormat>宽屏</PresentationFormat>
  <Paragraphs>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 Unicode MS</vt:lpstr>
      <vt:lpstr>DeepSeek-CJK-patch</vt:lpstr>
      <vt:lpstr>等线 Light</vt:lpstr>
      <vt:lpstr>Arial</vt:lpstr>
      <vt:lpstr>Wingdings</vt:lpstr>
      <vt:lpstr>等线</vt:lpstr>
      <vt:lpstr>Office 主题​​</vt:lpstr>
      <vt:lpstr>基于卷积码的编码识别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 lan</dc:creator>
  <cp:lastModifiedBy>lan lan</cp:lastModifiedBy>
  <cp:revision>6</cp:revision>
  <dcterms:created xsi:type="dcterms:W3CDTF">2025-05-07T03:44:24Z</dcterms:created>
  <dcterms:modified xsi:type="dcterms:W3CDTF">2025-05-11T12:32:09Z</dcterms:modified>
</cp:coreProperties>
</file>