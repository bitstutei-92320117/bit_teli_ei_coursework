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9" r:id="rId4"/>
    <p:sldId id="270" r:id="rId5"/>
    <p:sldId id="274" r:id="rId6"/>
    <p:sldId id="283" r:id="rId7"/>
    <p:sldId id="272" r:id="rId8"/>
    <p:sldId id="273" r:id="rId9"/>
    <p:sldId id="276" r:id="rId10"/>
    <p:sldId id="277" r:id="rId11"/>
    <p:sldId id="278" r:id="rId12"/>
    <p:sldId id="275" r:id="rId13"/>
    <p:sldId id="282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27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98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26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89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43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57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08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1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95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98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3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36665-31F6-4E02-BA94-E06E76C6ED79}" type="datetimeFigureOut">
              <a:rPr lang="zh-CN" altLang="en-US" smtClean="0"/>
              <a:t>2024/4/15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98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ib.csdn.net/base/datastructure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9328" y="0"/>
            <a:ext cx="7772400" cy="1470025"/>
          </a:xfrm>
        </p:spPr>
        <p:txBody>
          <a:bodyPr/>
          <a:lstStyle/>
          <a:p>
            <a:r>
              <a:rPr lang="zh-CN" altLang="en-US" dirty="0"/>
              <a:t>第三章研讨内容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76E060-7C2F-4FE8-B91A-17D4208E5D9E}"/>
              </a:ext>
            </a:extLst>
          </p:cNvPr>
          <p:cNvSpPr txBox="1"/>
          <p:nvPr/>
        </p:nvSpPr>
        <p:spPr>
          <a:xfrm>
            <a:off x="179512" y="1556792"/>
            <a:ext cx="8964488" cy="312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每组同学可以在三道题目中任选一道题完成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组内成员分工协作，如何分工组内自定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编程语言及开发系统可自选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将程序源码、编译后的可执行程序、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文档一起打包至乐学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会根据程序运行结果和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选择优秀的小组进行课堂讲解，被选中的小组组内每位成员得到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个加分</a:t>
            </a:r>
            <a:endParaRPr lang="en-US" altLang="zh-CN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F0FDA8-B0E1-421C-9732-27ACEB11F620}"/>
              </a:ext>
            </a:extLst>
          </p:cNvPr>
          <p:cNvSpPr txBox="1"/>
          <p:nvPr/>
        </p:nvSpPr>
        <p:spPr>
          <a:xfrm>
            <a:off x="538843" y="100836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要求：</a:t>
            </a:r>
          </a:p>
        </p:txBody>
      </p:sp>
    </p:spTree>
    <p:extLst>
      <p:ext uri="{BB962C8B-B14F-4D97-AF65-F5344CB8AC3E}">
        <p14:creationId xmlns:p14="http://schemas.microsoft.com/office/powerpoint/2010/main" val="20943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无失真信源编码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6026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800" b="1" dirty="0">
                <a:latin typeface="+mn-ea"/>
              </a:rPr>
              <a:t>1. </a:t>
            </a:r>
            <a:r>
              <a:rPr lang="zh-CN" altLang="en-US" sz="2800" b="1" dirty="0">
                <a:latin typeface="+mn-ea"/>
              </a:rPr>
              <a:t>基于二进制算术编码的图像压缩</a:t>
            </a:r>
            <a:endParaRPr lang="en-US" altLang="zh-CN" sz="28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查资料学习二进制算术码的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算法</a:t>
            </a:r>
            <a:endParaRPr lang="en-US" altLang="zh-CN" sz="24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编程实现对附件图片的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及性能分析，要求输出包括：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压缩（编码）数据或文件（可以直接给出二进制符号串或者也存成图片）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压缩前后数据长度；压缩比：压缩前文件长度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压缩后文件长度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解压缩（译码）文件（给出源文件与解压缩文件的对比显示）</a:t>
            </a:r>
            <a:endParaRPr lang="en-US" altLang="zh-CN" sz="20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制作</a:t>
            </a:r>
            <a:r>
              <a:rPr lang="en-US" altLang="zh-CN" sz="2400" b="1" dirty="0">
                <a:latin typeface="+mn-ea"/>
              </a:rPr>
              <a:t>20</a:t>
            </a:r>
            <a:r>
              <a:rPr lang="zh-CN" altLang="en-US" sz="2400" b="1" dirty="0">
                <a:latin typeface="+mn-ea"/>
              </a:rPr>
              <a:t>分钟</a:t>
            </a:r>
            <a:r>
              <a:rPr lang="en-US" altLang="zh-CN" sz="2400" b="1" dirty="0">
                <a:latin typeface="+mn-ea"/>
              </a:rPr>
              <a:t>PPT</a:t>
            </a:r>
            <a:r>
              <a:rPr lang="zh-CN" altLang="en-US" sz="2400" b="1" dirty="0">
                <a:latin typeface="+mn-ea"/>
              </a:rPr>
              <a:t>用于课堂演示，内容包括：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组内成员分工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算术码的</a:t>
            </a:r>
            <a:r>
              <a:rPr lang="zh-CN" altLang="en-US" sz="2000" b="1" dirty="0">
                <a:highlight>
                  <a:srgbClr val="FFFF00"/>
                </a:highlight>
                <a:latin typeface="+mn-ea"/>
              </a:rPr>
              <a:t>编码</a:t>
            </a:r>
            <a:r>
              <a:rPr lang="zh-CN" altLang="en-US" sz="2000" b="1" dirty="0">
                <a:latin typeface="+mn-ea"/>
              </a:rPr>
              <a:t>原理、特点（优势与局限性），与香农码相比较，分析各自的应用特点，并给出算数码的典型应用（注：了解今天所使用的压缩工具及其核心算法）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编程思路或程序流程、程序演示（无需程序代码讲解）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参考文献</a:t>
            </a:r>
            <a:endParaRPr lang="en-US" altLang="zh-CN" sz="20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197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无失真信源编码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6026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800" b="1" dirty="0">
                <a:latin typeface="+mn-ea"/>
              </a:rPr>
              <a:t>2. </a:t>
            </a:r>
            <a:r>
              <a:rPr lang="zh-CN" altLang="en-US" sz="2800" b="1" dirty="0">
                <a:latin typeface="+mn-ea"/>
              </a:rPr>
              <a:t>基于</a:t>
            </a:r>
            <a:r>
              <a:rPr lang="en-US" altLang="zh-CN" sz="2800" b="1" dirty="0">
                <a:latin typeface="+mn-ea"/>
              </a:rPr>
              <a:t>LZ77</a:t>
            </a:r>
            <a:r>
              <a:rPr lang="zh-CN" altLang="en-US" sz="2800" b="1" dirty="0">
                <a:latin typeface="+mn-ea"/>
              </a:rPr>
              <a:t>的图像压缩</a:t>
            </a:r>
            <a:endParaRPr lang="en-US" altLang="zh-CN" sz="28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查资料学习</a:t>
            </a:r>
            <a:r>
              <a:rPr lang="en-US" altLang="zh-CN" sz="2400" b="1" dirty="0">
                <a:latin typeface="+mn-ea"/>
              </a:rPr>
              <a:t>LZ77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算法</a:t>
            </a:r>
            <a:endParaRPr lang="en-US" altLang="zh-CN" sz="24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编程实现对附件图片的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及性能分析，要求输出包括：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压缩（编码）数据或文件（可以直接给出二进制符号串或者也存成图片）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压缩前后数据长度、压缩比：压缩前文件长度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压缩后文件长度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解压缩（译码）文件（给出源文件与解压缩文件的对比显示）</a:t>
            </a:r>
            <a:endParaRPr lang="en-US" altLang="zh-CN" sz="20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制作</a:t>
            </a:r>
            <a:r>
              <a:rPr lang="en-US" altLang="zh-CN" sz="2400" b="1" dirty="0">
                <a:latin typeface="+mn-ea"/>
              </a:rPr>
              <a:t>20</a:t>
            </a:r>
            <a:r>
              <a:rPr lang="zh-CN" altLang="en-US" sz="2400" b="1" dirty="0">
                <a:latin typeface="+mn-ea"/>
              </a:rPr>
              <a:t>分钟</a:t>
            </a:r>
            <a:r>
              <a:rPr lang="en-US" altLang="zh-CN" sz="2400" b="1" dirty="0">
                <a:latin typeface="+mn-ea"/>
              </a:rPr>
              <a:t>PPT</a:t>
            </a:r>
            <a:r>
              <a:rPr lang="zh-CN" altLang="en-US" sz="2400" b="1" dirty="0">
                <a:latin typeface="+mn-ea"/>
              </a:rPr>
              <a:t>用于课堂演示，内容包括：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组内成员分工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LZ77</a:t>
            </a:r>
            <a:r>
              <a:rPr lang="zh-CN" altLang="en-US" sz="2000" b="1" dirty="0">
                <a:latin typeface="+mn-ea"/>
              </a:rPr>
              <a:t>的</a:t>
            </a:r>
            <a:r>
              <a:rPr lang="zh-CN" altLang="en-US" sz="2000" b="1" dirty="0">
                <a:highlight>
                  <a:srgbClr val="FFFF00"/>
                </a:highlight>
                <a:latin typeface="+mn-ea"/>
              </a:rPr>
              <a:t>编码</a:t>
            </a:r>
            <a:r>
              <a:rPr lang="zh-CN" altLang="en-US" sz="2000" b="1" dirty="0">
                <a:latin typeface="+mn-ea"/>
              </a:rPr>
              <a:t>原理、特点（优势与局限性），与霍夫曼相比较，分析各自的应用特点，并给出</a:t>
            </a:r>
            <a:r>
              <a:rPr lang="en-US" altLang="zh-CN" sz="2000" b="1" dirty="0">
                <a:latin typeface="+mn-ea"/>
              </a:rPr>
              <a:t>LZ77</a:t>
            </a:r>
            <a:r>
              <a:rPr lang="zh-CN" altLang="en-US" sz="2000" b="1" dirty="0">
                <a:latin typeface="+mn-ea"/>
              </a:rPr>
              <a:t>码的典型应用（注：了解今天所使用的压缩工具及其核心算法）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编程思路或程序流程、程序演示（无需程序代码讲解）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参考文献</a:t>
            </a:r>
            <a:endParaRPr lang="en-US" altLang="zh-CN" sz="20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342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无失真信源编码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6026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800" b="1" dirty="0">
                <a:latin typeface="+mn-ea"/>
              </a:rPr>
              <a:t>3.</a:t>
            </a:r>
            <a:r>
              <a:rPr lang="zh-CN" altLang="en-US" sz="2800" b="1" dirty="0">
                <a:latin typeface="+mn-ea"/>
              </a:rPr>
              <a:t>基于</a:t>
            </a:r>
            <a:r>
              <a:rPr lang="en-US" altLang="zh-CN" sz="2800" b="1" dirty="0">
                <a:latin typeface="+mn-ea"/>
              </a:rPr>
              <a:t>LZW</a:t>
            </a:r>
            <a:r>
              <a:rPr lang="zh-CN" altLang="en-US" sz="2800" b="1" dirty="0">
                <a:latin typeface="+mn-ea"/>
              </a:rPr>
              <a:t>编码的图像压缩</a:t>
            </a:r>
            <a:endParaRPr lang="en-US" altLang="zh-CN" sz="28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查资料学习</a:t>
            </a:r>
            <a:r>
              <a:rPr lang="en-US" altLang="zh-CN" sz="2400" b="1" dirty="0">
                <a:latin typeface="+mn-ea"/>
              </a:rPr>
              <a:t>LZW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算法</a:t>
            </a:r>
            <a:endParaRPr lang="en-US" altLang="zh-CN" sz="24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编程实现对附件图片的</a:t>
            </a:r>
            <a:r>
              <a:rPr lang="zh-CN" altLang="en-US" sz="2400" b="1" dirty="0">
                <a:highlight>
                  <a:srgbClr val="FFFF00"/>
                </a:highlight>
                <a:latin typeface="+mn-ea"/>
              </a:rPr>
              <a:t>编译码</a:t>
            </a:r>
            <a:r>
              <a:rPr lang="zh-CN" altLang="en-US" sz="2400" b="1" dirty="0">
                <a:latin typeface="+mn-ea"/>
              </a:rPr>
              <a:t>及性能分析，要求输出包括：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压缩（编码）数据或文件（可以直接给出二进制符号串或者也存成图片）。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压缩前后数据长度；压缩比：压缩前文件长度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压缩后文件长度。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解压缩（译码）文件（给出源文件与解压缩文件的对比显示）</a:t>
            </a:r>
            <a:endParaRPr lang="en-US" altLang="zh-CN" sz="20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制作</a:t>
            </a:r>
            <a:r>
              <a:rPr lang="en-US" altLang="zh-CN" sz="2400" b="1" dirty="0">
                <a:latin typeface="+mn-ea"/>
              </a:rPr>
              <a:t>20</a:t>
            </a:r>
            <a:r>
              <a:rPr lang="zh-CN" altLang="en-US" sz="2400" b="1" dirty="0">
                <a:latin typeface="+mn-ea"/>
              </a:rPr>
              <a:t>分钟</a:t>
            </a:r>
            <a:r>
              <a:rPr lang="en-US" altLang="zh-CN" sz="2400" b="1" dirty="0">
                <a:latin typeface="+mn-ea"/>
              </a:rPr>
              <a:t>PPT</a:t>
            </a:r>
            <a:r>
              <a:rPr lang="zh-CN" altLang="en-US" sz="2400" b="1" dirty="0">
                <a:latin typeface="+mn-ea"/>
              </a:rPr>
              <a:t>用于课堂演示，内容包括：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组内成员分工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LZW</a:t>
            </a:r>
            <a:r>
              <a:rPr lang="zh-CN" altLang="en-US" sz="2000" b="1" dirty="0">
                <a:latin typeface="+mn-ea"/>
              </a:rPr>
              <a:t>的</a:t>
            </a:r>
            <a:r>
              <a:rPr lang="zh-CN" altLang="en-US" sz="2000" b="1" dirty="0">
                <a:highlight>
                  <a:srgbClr val="FFFF00"/>
                </a:highlight>
                <a:latin typeface="+mn-ea"/>
              </a:rPr>
              <a:t>编码</a:t>
            </a:r>
            <a:r>
              <a:rPr lang="zh-CN" altLang="en-US" sz="2000" b="1" dirty="0">
                <a:latin typeface="+mn-ea"/>
              </a:rPr>
              <a:t>原理、特点（优势与局限性），与霍夫曼相比较，分析各自的应用特点，并给出</a:t>
            </a:r>
            <a:r>
              <a:rPr lang="en-US" altLang="zh-CN" sz="2000" b="1" dirty="0">
                <a:latin typeface="+mn-ea"/>
              </a:rPr>
              <a:t>LZW</a:t>
            </a:r>
            <a:r>
              <a:rPr lang="zh-CN" altLang="en-US" sz="2000" b="1" dirty="0">
                <a:latin typeface="+mn-ea"/>
              </a:rPr>
              <a:t>码的典型应用（注：了解今天所使用的压缩工具及其核心算法）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编程思路或程序流程、程序演示（无需程序代码讲解）</a:t>
            </a:r>
            <a:endParaRPr lang="en-US" altLang="zh-CN" sz="20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</a:rPr>
              <a:t>参考文献</a:t>
            </a:r>
            <a:endParaRPr lang="en-US" altLang="zh-CN" sz="20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642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362FB9-8C34-4B7C-95FF-90198C62CAC8}"/>
              </a:ext>
            </a:extLst>
          </p:cNvPr>
          <p:cNvSpPr txBox="1"/>
          <p:nvPr/>
        </p:nvSpPr>
        <p:spPr>
          <a:xfrm>
            <a:off x="36136" y="116632"/>
            <a:ext cx="8856344" cy="594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n-ea"/>
              </a:rPr>
              <a:t>关于编程相关问题</a:t>
            </a:r>
            <a:endParaRPr lang="en-US" altLang="zh-CN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b="1" dirty="0">
                <a:latin typeface="+mn-ea"/>
              </a:rPr>
              <a:t>待压缩文件限定为：包含各组标识的灰度图“</a:t>
            </a:r>
            <a:r>
              <a:rPr lang="en-US" altLang="zh-CN" sz="1600" b="1" dirty="0">
                <a:latin typeface="+mn-ea"/>
              </a:rPr>
              <a:t>x</a:t>
            </a:r>
            <a:r>
              <a:rPr lang="zh-CN" altLang="en-US" sz="1600" b="1" dirty="0">
                <a:latin typeface="+mn-ea"/>
              </a:rPr>
              <a:t>组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灰度图.bmp”</a:t>
            </a:r>
            <a:r>
              <a:rPr lang="en-US" altLang="zh-CN" sz="1600" b="1" dirty="0">
                <a:latin typeface="+mn-ea"/>
              </a:rPr>
              <a:t>---</a:t>
            </a:r>
            <a:r>
              <a:rPr lang="zh-CN" altLang="en-US" sz="1600" b="1" dirty="0">
                <a:latin typeface="+mn-ea"/>
              </a:rPr>
              <a:t>见附件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b="1" dirty="0">
                <a:latin typeface="+mn-ea"/>
              </a:rPr>
              <a:t>友情提示：</a:t>
            </a:r>
            <a:endParaRPr lang="en-US" altLang="zh-CN" sz="16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n-ea"/>
              </a:rPr>
              <a:t>可以忽视文件的属性，直接把文件按照数据流读出，对文件数据流进行压缩、解压缩即可，这种方法简单，但压缩前后、解压缩前后的文件对比不直观，且跟后续第五章的限失真压缩结果缺乏对比性。</a:t>
            </a:r>
            <a:endParaRPr lang="en-US" altLang="zh-CN" sz="16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n-ea"/>
              </a:rPr>
              <a:t>按照</a:t>
            </a:r>
            <a:r>
              <a:rPr lang="en-US" altLang="zh-CN" sz="1600" b="1" dirty="0">
                <a:latin typeface="+mn-ea"/>
              </a:rPr>
              <a:t>BMP</a:t>
            </a:r>
            <a:r>
              <a:rPr lang="zh-CN" altLang="en-US" sz="1600" b="1" dirty="0">
                <a:latin typeface="+mn-ea"/>
              </a:rPr>
              <a:t>文件格式，仅读出图像的像素数据流，对像素数据流进行压缩、解压缩，可以将压缩之后以及解压缩之后的数据文件流按照</a:t>
            </a:r>
            <a:r>
              <a:rPr lang="en-US" altLang="zh-CN" sz="1600" b="1" dirty="0">
                <a:latin typeface="+mn-ea"/>
              </a:rPr>
              <a:t>BMP</a:t>
            </a:r>
            <a:r>
              <a:rPr lang="zh-CN" altLang="en-US" sz="1600" b="1" dirty="0">
                <a:latin typeface="+mn-ea"/>
              </a:rPr>
              <a:t>格式重新封装（考虑文件头信息的变化）。这种方法需要了解</a:t>
            </a:r>
            <a:r>
              <a:rPr lang="en-US" altLang="zh-CN" sz="1600" b="1" dirty="0">
                <a:latin typeface="+mn-ea"/>
              </a:rPr>
              <a:t>BMP</a:t>
            </a:r>
            <a:r>
              <a:rPr lang="zh-CN" altLang="en-US" sz="1600" b="1" dirty="0">
                <a:latin typeface="+mn-ea"/>
              </a:rPr>
              <a:t>文件格式（介绍附后）以及文件头中相应数据的具体含义，但压缩、解压缩效果对比清晰（有物理意义），且便于跟后续第五章的限失真压缩做对比。</a:t>
            </a:r>
            <a:endParaRPr lang="en-US" altLang="zh-CN" sz="16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n-ea"/>
              </a:rPr>
              <a:t>文件格式信息说明：</a:t>
            </a: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463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0C1556-FBB7-35AA-539A-4FD5A3ABC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29" y="1803029"/>
            <a:ext cx="3251941" cy="325194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BF396E2-29AD-1685-BE05-52D8F7CB9672}"/>
              </a:ext>
            </a:extLst>
          </p:cNvPr>
          <p:cNvSpPr txBox="1"/>
          <p:nvPr/>
        </p:nvSpPr>
        <p:spPr>
          <a:xfrm>
            <a:off x="3605682" y="52919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组</a:t>
            </a:r>
            <a:r>
              <a:rPr lang="en-US" altLang="zh-CN" dirty="0"/>
              <a:t>-</a:t>
            </a:r>
            <a:r>
              <a:rPr lang="zh-CN" altLang="en-US" dirty="0"/>
              <a:t>灰度图</a:t>
            </a:r>
            <a:r>
              <a:rPr lang="en-US" altLang="zh-CN" dirty="0"/>
              <a:t>.bmp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455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5895870-B4B9-4C4A-808D-F0912CDF0993}"/>
              </a:ext>
            </a:extLst>
          </p:cNvPr>
          <p:cNvSpPr txBox="1"/>
          <p:nvPr/>
        </p:nvSpPr>
        <p:spPr>
          <a:xfrm>
            <a:off x="107504" y="116632"/>
            <a:ext cx="2520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/>
              <a:t>灰度图.bmp文件属性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FB7111-27D7-8EC6-02F9-194F9F9F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073" y="188640"/>
            <a:ext cx="5179927" cy="5129673"/>
          </a:xfrm>
          <a:prstGeom prst="rect">
            <a:avLst/>
          </a:prstGeom>
        </p:spPr>
      </p:pic>
      <p:sp>
        <p:nvSpPr>
          <p:cNvPr id="6" name="标注: 线形 5">
            <a:extLst>
              <a:ext uri="{FF2B5EF4-FFF2-40B4-BE49-F238E27FC236}">
                <a16:creationId xmlns:a16="http://schemas.microsoft.com/office/drawing/2014/main" id="{8CBA7BB8-C3F9-4F53-B83C-DC9A68EAE809}"/>
              </a:ext>
            </a:extLst>
          </p:cNvPr>
          <p:cNvSpPr/>
          <p:nvPr/>
        </p:nvSpPr>
        <p:spPr>
          <a:xfrm>
            <a:off x="6392960" y="5589240"/>
            <a:ext cx="1656184" cy="1080120"/>
          </a:xfrm>
          <a:prstGeom prst="borderCallout1">
            <a:avLst>
              <a:gd name="adj1" fmla="val -11112"/>
              <a:gd name="adj2" fmla="val 48162"/>
              <a:gd name="adj3" fmla="val -303902"/>
              <a:gd name="adj4" fmla="val -3133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宽：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256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像素</a:t>
            </a:r>
            <a:endParaRPr lang="en-US" altLang="zh-CN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高：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256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像素位深度：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55B9540-67DF-A293-546E-3EE111F6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54774"/>
            <a:ext cx="3829050" cy="4581525"/>
          </a:xfrm>
          <a:prstGeom prst="rect">
            <a:avLst/>
          </a:prstGeom>
        </p:spPr>
      </p:pic>
      <p:sp>
        <p:nvSpPr>
          <p:cNvPr id="7" name="标注: 线形 6">
            <a:extLst>
              <a:ext uri="{FF2B5EF4-FFF2-40B4-BE49-F238E27FC236}">
                <a16:creationId xmlns:a16="http://schemas.microsoft.com/office/drawing/2014/main" id="{F239B783-E3C9-48F9-BCEC-93084939789C}"/>
              </a:ext>
            </a:extLst>
          </p:cNvPr>
          <p:cNvSpPr/>
          <p:nvPr/>
        </p:nvSpPr>
        <p:spPr>
          <a:xfrm>
            <a:off x="840210" y="5559602"/>
            <a:ext cx="3096344" cy="569698"/>
          </a:xfrm>
          <a:prstGeom prst="borderCallout1">
            <a:avLst>
              <a:gd name="adj1" fmla="val -11112"/>
              <a:gd name="adj2" fmla="val 48162"/>
              <a:gd name="adj3" fmla="val -209668"/>
              <a:gd name="adj4" fmla="val 575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文件数据长度：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8254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200339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69D5BE-2E10-4704-B170-01CEFFA22FCC}"/>
              </a:ext>
            </a:extLst>
          </p:cNvPr>
          <p:cNvSpPr txBox="1"/>
          <p:nvPr/>
        </p:nvSpPr>
        <p:spPr>
          <a:xfrm>
            <a:off x="161593" y="3645024"/>
            <a:ext cx="8982407" cy="295337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文件头：</a:t>
            </a:r>
            <a:r>
              <a:rPr lang="en-US" altLang="zh-CN" b="1" dirty="0"/>
              <a:t>62</a:t>
            </a:r>
            <a:r>
              <a:rPr lang="zh-CN" altLang="en-US" b="1" dirty="0"/>
              <a:t>字节（阴影部分）</a:t>
            </a:r>
            <a:r>
              <a:rPr lang="en-US" altLang="zh-CN" b="1" dirty="0"/>
              <a:t>=14</a:t>
            </a:r>
            <a:r>
              <a:rPr lang="zh-CN" altLang="en-US" b="1" dirty="0"/>
              <a:t>字节（</a:t>
            </a:r>
            <a:r>
              <a:rPr lang="en-US" altLang="zh-CN" b="1" dirty="0"/>
              <a:t> BMP</a:t>
            </a:r>
            <a:r>
              <a:rPr lang="zh-CN" altLang="en-US" b="1" dirty="0"/>
              <a:t>文件头中的文件标识）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                                                          +40</a:t>
            </a:r>
            <a:r>
              <a:rPr lang="zh-CN" altLang="en-US" b="1" dirty="0"/>
              <a:t>字节（</a:t>
            </a:r>
            <a:r>
              <a:rPr lang="en-US" altLang="zh-CN" b="1" dirty="0"/>
              <a:t>BMP</a:t>
            </a:r>
            <a:r>
              <a:rPr lang="zh-CN" altLang="en-US" b="1" dirty="0"/>
              <a:t>的文件头中的图像信息）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                                                           +8</a:t>
            </a:r>
            <a:r>
              <a:rPr lang="zh-CN" altLang="en-US" b="1" dirty="0"/>
              <a:t>字节（调色板信息）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图像：之后的</a:t>
            </a:r>
            <a:r>
              <a:rPr lang="en-US" altLang="zh-CN" b="1" dirty="0"/>
              <a:t>8192</a:t>
            </a:r>
            <a:r>
              <a:rPr lang="zh-CN" altLang="en-US" b="1" dirty="0"/>
              <a:t>字节（</a:t>
            </a:r>
            <a:r>
              <a:rPr lang="en-US" altLang="zh-CN" b="1" dirty="0"/>
              <a:t>65536bit</a:t>
            </a:r>
            <a:r>
              <a:rPr lang="zh-CN" altLang="en-US" b="1" dirty="0"/>
              <a:t>）的数据构成</a:t>
            </a:r>
            <a:r>
              <a:rPr lang="en-US" altLang="zh-CN" b="1" dirty="0"/>
              <a:t>256bitx256bit</a:t>
            </a:r>
            <a:r>
              <a:rPr lang="zh-CN" altLang="en-US" b="1" dirty="0"/>
              <a:t>的正方形图像，  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            </a:t>
            </a:r>
            <a:r>
              <a:rPr lang="zh-CN" altLang="en-US" b="1" dirty="0"/>
              <a:t>数据排序是从图像左下角开始，</a:t>
            </a:r>
            <a:r>
              <a:rPr lang="en-US" altLang="zh-CN" b="1" dirty="0"/>
              <a:t> </a:t>
            </a:r>
            <a:r>
              <a:rPr lang="zh-CN" altLang="en-US" b="1" dirty="0"/>
              <a:t>即：最后一行左起像素是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           </a:t>
            </a:r>
            <a:r>
              <a:rPr lang="zh-CN" altLang="en-US" b="1" dirty="0"/>
              <a:t>“黑黑白白白白白黑。。。。。。         </a:t>
            </a:r>
            <a:r>
              <a:rPr lang="en-US" altLang="zh-CN" b="1" dirty="0"/>
              <a:t>                                                      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             </a:t>
            </a:r>
            <a:r>
              <a:rPr lang="zh-CN" altLang="en-US" b="1" dirty="0"/>
              <a:t>（</a:t>
            </a:r>
            <a:r>
              <a:rPr lang="en-US" altLang="zh-CN" b="1" dirty="0"/>
              <a:t>0   0  1  1  1  1  1  0</a:t>
            </a:r>
            <a:r>
              <a:rPr lang="en-US" altLang="zh-CN" b="1" dirty="0">
                <a:sym typeface="Wingdings" panose="05000000000000000000" pitchFamily="2" charset="2"/>
              </a:rPr>
              <a:t>0x37)</a:t>
            </a: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14E72C-BCEA-4DE4-B968-EBB5C6498E92}"/>
              </a:ext>
            </a:extLst>
          </p:cNvPr>
          <p:cNvSpPr txBox="1"/>
          <p:nvPr/>
        </p:nvSpPr>
        <p:spPr>
          <a:xfrm>
            <a:off x="7354890" y="1081110"/>
            <a:ext cx="1682892" cy="226613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1</a:t>
            </a:r>
            <a:r>
              <a:rPr lang="zh-CN" altLang="en-US" sz="1600" b="1" dirty="0"/>
              <a:t>组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灰度图.bmp文件的数据（以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进制编辑器察看、也可以通过</a:t>
            </a:r>
            <a:r>
              <a:rPr lang="en-US" altLang="zh-CN" sz="1600" b="1" dirty="0"/>
              <a:t>MATLAB</a:t>
            </a:r>
            <a:r>
              <a:rPr lang="zh-CN" altLang="en-US" sz="1600" b="1" dirty="0"/>
              <a:t>读取数据观察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A3C3E6-B161-62C9-F233-E8FC66693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6" y="0"/>
            <a:ext cx="7122444" cy="3347243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F57C0374-17BA-88DC-7C78-87D8CEE22367}"/>
              </a:ext>
            </a:extLst>
          </p:cNvPr>
          <p:cNvSpPr/>
          <p:nvPr/>
        </p:nvSpPr>
        <p:spPr>
          <a:xfrm>
            <a:off x="6516216" y="1673621"/>
            <a:ext cx="288032" cy="243211"/>
          </a:xfrm>
          <a:prstGeom prst="ellipse">
            <a:avLst/>
          </a:prstGeom>
          <a:solidFill>
            <a:srgbClr val="FF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2CB9462-E210-EC82-0CA3-2882249C15CF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419872" y="1916832"/>
            <a:ext cx="3240360" cy="439248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579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471598E-A482-4322-AF8B-B69CEB2FF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1062"/>
              </p:ext>
            </p:extLst>
          </p:nvPr>
        </p:nvGraphicFramePr>
        <p:xfrm>
          <a:off x="457200" y="764704"/>
          <a:ext cx="8229600" cy="3108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484227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109986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72490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 dirty="0">
                          <a:effectLst/>
                        </a:rPr>
                        <a:t>字节顺序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u="sng" kern="0">
                          <a:effectLst/>
                          <a:hlinkClick r:id="rId2" tooltip="算法与数据结构知识库"/>
                        </a:rPr>
                        <a:t>数据结构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>
                          <a:effectLst/>
                        </a:rPr>
                        <a:t>描述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03948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1,2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word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>
                          <a:effectLst/>
                        </a:rPr>
                        <a:t>高</a:t>
                      </a:r>
                      <a:r>
                        <a:rPr lang="en-US" sz="1800" kern="0">
                          <a:effectLst/>
                        </a:rPr>
                        <a:t>8</a:t>
                      </a:r>
                      <a:r>
                        <a:rPr lang="zh-CN" sz="1800" kern="0">
                          <a:effectLst/>
                        </a:rPr>
                        <a:t>位为字母</a:t>
                      </a:r>
                      <a:r>
                        <a:rPr lang="en-US" sz="1800" kern="0">
                          <a:effectLst/>
                        </a:rPr>
                        <a:t>’B’</a:t>
                      </a:r>
                      <a:r>
                        <a:rPr lang="zh-CN" sz="1800" kern="0">
                          <a:effectLst/>
                        </a:rPr>
                        <a:t>，低</a:t>
                      </a:r>
                      <a:r>
                        <a:rPr lang="en-US" sz="1800" kern="0">
                          <a:effectLst/>
                        </a:rPr>
                        <a:t>8</a:t>
                      </a:r>
                      <a:r>
                        <a:rPr lang="zh-CN" sz="1800" kern="0">
                          <a:effectLst/>
                        </a:rPr>
                        <a:t>位为字母</a:t>
                      </a:r>
                      <a:r>
                        <a:rPr lang="en-US" sz="1800" kern="0">
                          <a:effectLst/>
                        </a:rPr>
                        <a:t>’M’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40802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3,4,5,6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uint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>
                          <a:effectLst/>
                        </a:rPr>
                        <a:t>文件尺寸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85122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7,8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word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>
                          <a:effectLst/>
                        </a:rPr>
                        <a:t>保留字</a:t>
                      </a:r>
                      <a:r>
                        <a:rPr lang="en-US" sz="1800" kern="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57367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9,10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word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>
                          <a:effectLst/>
                        </a:rPr>
                        <a:t>保留字</a:t>
                      </a:r>
                      <a:r>
                        <a:rPr lang="en-US" sz="1800" kern="0">
                          <a:effectLst/>
                        </a:rPr>
                        <a:t>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70385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 dirty="0">
                          <a:effectLst/>
                        </a:rPr>
                        <a:t>11,12,13,14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800" kern="0">
                          <a:effectLst/>
                        </a:rPr>
                        <a:t>uint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800" kern="0" dirty="0">
                          <a:effectLst/>
                        </a:rPr>
                        <a:t>位图数据部分相对于文件首的起始偏移量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34342346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C2EF4DE-02F9-45FC-9904-556034A2D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60648"/>
            <a:ext cx="47949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BMP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的文件头</a:t>
            </a:r>
            <a:r>
              <a:rPr lang="zh-CN" altLang="en-US" b="1" dirty="0">
                <a:solidFill>
                  <a:srgbClr val="4B4B4B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中的文件信息：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共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14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个字节。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 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 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57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5FBB33C-859A-42A4-BB43-CB2FD94E2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60648"/>
            <a:ext cx="47949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BMP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的文件头</a:t>
            </a:r>
            <a:r>
              <a:rPr lang="zh-CN" altLang="en-US" b="1" dirty="0">
                <a:solidFill>
                  <a:srgbClr val="4B4B4B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中的图像信息：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共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40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个字节。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 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4B4B4B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Helvetica" panose="020B0604020202020204" pitchFamily="34" charset="0"/>
              </a:rPr>
              <a:t> 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6F5100D-27A0-4F2D-A6F8-FC5571E40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89327"/>
              </p:ext>
            </p:extLst>
          </p:nvPr>
        </p:nvGraphicFramePr>
        <p:xfrm>
          <a:off x="457200" y="1052736"/>
          <a:ext cx="8229600" cy="4602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93875256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501658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9439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字节顺序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数据结构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描述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30314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15,16,17,18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uint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当前结构体的大小，通常是</a:t>
                      </a:r>
                      <a:r>
                        <a:rPr lang="en-US" sz="1400" b="1" kern="0">
                          <a:effectLst/>
                        </a:rPr>
                        <a:t>40</a:t>
                      </a:r>
                      <a:r>
                        <a:rPr lang="zh-CN" sz="1400" b="1" kern="0">
                          <a:effectLst/>
                        </a:rPr>
                        <a:t>或</a:t>
                      </a:r>
                      <a:r>
                        <a:rPr lang="en-US" sz="1400" b="1" kern="0">
                          <a:effectLst/>
                        </a:rPr>
                        <a:t>56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89435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19,20,21,22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图像宽度（像素）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42949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23,24,25,26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图像高度（像素）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63620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27,28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word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这个字的值永远是</a:t>
                      </a:r>
                      <a:r>
                        <a:rPr lang="en-US" sz="1400" b="1" kern="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7692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29,30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word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每像素占用的位数，即</a:t>
                      </a:r>
                      <a:r>
                        <a:rPr lang="en-US" sz="1400" b="1" kern="0">
                          <a:effectLst/>
                        </a:rPr>
                        <a:t>bpp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807879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31,32,33,34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uint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压缩方式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5506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35,36,37,38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uint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图像的尺寸（字节数）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43950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39,40,41,42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水平分辨率，</a:t>
                      </a:r>
                      <a:r>
                        <a:rPr lang="en-US" sz="1400" b="1" kern="0">
                          <a:effectLst/>
                        </a:rPr>
                        <a:t>pixels-per-meter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31861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43,44,45,46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垂直分辨率，</a:t>
                      </a:r>
                      <a:r>
                        <a:rPr lang="en-US" sz="1400" b="1" kern="0">
                          <a:effectLst/>
                        </a:rPr>
                        <a:t>pixels-per-meter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126450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47,48,49,50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uint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>
                          <a:effectLst/>
                        </a:rPr>
                        <a:t>引用色彩数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21625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51,52,53,54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sz="1400" b="1" kern="0">
                          <a:effectLst/>
                        </a:rPr>
                        <a:t>uint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关键色彩数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3350" marR="133350" marT="76200" marB="76200"/>
                </a:tc>
                <a:extLst>
                  <a:ext uri="{0D108BD9-81ED-4DB2-BD59-A6C34878D82A}">
                    <a16:rowId xmlns:a16="http://schemas.microsoft.com/office/drawing/2014/main" val="3342483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10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51648B-323D-471F-8E27-1A5CE476008C}"/>
              </a:ext>
            </a:extLst>
          </p:cNvPr>
          <p:cNvSpPr txBox="1"/>
          <p:nvPr/>
        </p:nvSpPr>
        <p:spPr>
          <a:xfrm>
            <a:off x="1403648" y="1844824"/>
            <a:ext cx="7560840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/>
              <a:t>42 4d </a:t>
            </a:r>
            <a:r>
              <a:rPr lang="zh-CN" altLang="en-US" sz="2400" b="1" dirty="0">
                <a:highlight>
                  <a:srgbClr val="FFFF00"/>
                </a:highlight>
              </a:rPr>
              <a:t>3e 20 00 00</a:t>
            </a:r>
            <a:r>
              <a:rPr lang="zh-CN" altLang="en-US" sz="2400" b="1" dirty="0"/>
              <a:t> 00 00 00 00 </a:t>
            </a:r>
            <a:r>
              <a:rPr lang="zh-CN" altLang="en-US" sz="2400" b="1" dirty="0">
                <a:highlight>
                  <a:srgbClr val="FFFF00"/>
                </a:highlight>
              </a:rPr>
              <a:t>3e 00 00 00</a:t>
            </a:r>
            <a:r>
              <a:rPr lang="zh-CN" altLang="en-US" sz="2400" b="1" dirty="0"/>
              <a:t> </a:t>
            </a:r>
            <a:r>
              <a:rPr lang="zh-CN" altLang="en-US" sz="2400" b="1" dirty="0">
                <a:highlight>
                  <a:srgbClr val="00FFFF"/>
                </a:highlight>
              </a:rPr>
              <a:t>28 00</a:t>
            </a:r>
            <a:endParaRPr lang="en-US" altLang="zh-CN" sz="2400" b="1" dirty="0">
              <a:highlight>
                <a:srgbClr val="00FFFF"/>
              </a:highlight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/>
              <a:t> 00 00 </a:t>
            </a:r>
            <a:r>
              <a:rPr lang="zh-CN" altLang="en-US" sz="2400" b="1" dirty="0">
                <a:highlight>
                  <a:srgbClr val="00FFFF"/>
                </a:highlight>
              </a:rPr>
              <a:t>00 01 00 00 00 01 00 00</a:t>
            </a:r>
            <a:r>
              <a:rPr lang="zh-CN" altLang="en-US" sz="2400" b="1" dirty="0"/>
              <a:t> 01 00 </a:t>
            </a:r>
            <a:r>
              <a:rPr lang="zh-CN" altLang="en-US" sz="2400" b="1" dirty="0">
                <a:highlight>
                  <a:srgbClr val="00FFFF"/>
                </a:highlight>
              </a:rPr>
              <a:t>01 00</a:t>
            </a:r>
            <a:r>
              <a:rPr lang="zh-CN" altLang="en-US" sz="2400" b="1" dirty="0"/>
              <a:t> 00 00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/>
              <a:t>00 00 </a:t>
            </a:r>
            <a:r>
              <a:rPr lang="zh-CN" altLang="en-US" sz="2400" b="1" dirty="0">
                <a:highlight>
                  <a:srgbClr val="00FFFF"/>
                </a:highlight>
              </a:rPr>
              <a:t>00 20 00 00</a:t>
            </a:r>
            <a:r>
              <a:rPr lang="zh-CN" altLang="en-US" sz="2400" b="1" dirty="0"/>
              <a:t> 12 0b 00 00 12 0b 00 00 00 00 </a:t>
            </a:r>
            <a:endParaRPr lang="en-US" altLang="zh-CN" sz="2400" b="1" dirty="0"/>
          </a:p>
          <a:p>
            <a:pPr>
              <a:lnSpc>
                <a:spcPct val="200000"/>
              </a:lnSpc>
            </a:pPr>
            <a:r>
              <a:rPr lang="zh-CN" altLang="en-US" sz="2400" b="1" dirty="0"/>
              <a:t>00 00 00 00 00 </a:t>
            </a:r>
            <a:r>
              <a:rPr lang="en-US" altLang="zh-CN" sz="2400" b="1" dirty="0"/>
              <a:t>00  </a:t>
            </a:r>
            <a:r>
              <a:rPr lang="en-US" altLang="zh-CN" sz="2400" b="1" dirty="0">
                <a:highlight>
                  <a:srgbClr val="00FFFF"/>
                </a:highlight>
              </a:rPr>
              <a:t>00 00 00 00 ff </a:t>
            </a:r>
            <a:r>
              <a:rPr lang="en-US" altLang="zh-CN" sz="2400" b="1" dirty="0" err="1">
                <a:highlight>
                  <a:srgbClr val="00FFFF"/>
                </a:highlight>
              </a:rPr>
              <a:t>ff</a:t>
            </a:r>
            <a:r>
              <a:rPr lang="en-US" altLang="zh-CN" sz="2400" b="1" dirty="0">
                <a:highlight>
                  <a:srgbClr val="00FFFF"/>
                </a:highlight>
              </a:rPr>
              <a:t> </a:t>
            </a:r>
            <a:r>
              <a:rPr lang="en-US" altLang="zh-CN" sz="2400" b="1" dirty="0" err="1">
                <a:highlight>
                  <a:srgbClr val="00FFFF"/>
                </a:highlight>
              </a:rPr>
              <a:t>ff</a:t>
            </a:r>
            <a:r>
              <a:rPr lang="en-US" altLang="zh-CN" sz="2400" b="1" dirty="0">
                <a:highlight>
                  <a:srgbClr val="00FFFF"/>
                </a:highlight>
              </a:rPr>
              <a:t> 00</a:t>
            </a:r>
            <a:endParaRPr lang="zh-CN" altLang="en-US" sz="2400" b="1" dirty="0">
              <a:highlight>
                <a:srgbClr val="00FFFF"/>
              </a:highlight>
            </a:endParaRPr>
          </a:p>
        </p:txBody>
      </p:sp>
      <p:sp>
        <p:nvSpPr>
          <p:cNvPr id="4" name="标注: 线形 3">
            <a:extLst>
              <a:ext uri="{FF2B5EF4-FFF2-40B4-BE49-F238E27FC236}">
                <a16:creationId xmlns:a16="http://schemas.microsoft.com/office/drawing/2014/main" id="{A8C76CDD-8A96-493E-805D-90B8473BC8D9}"/>
              </a:ext>
            </a:extLst>
          </p:cNvPr>
          <p:cNvSpPr/>
          <p:nvPr/>
        </p:nvSpPr>
        <p:spPr>
          <a:xfrm>
            <a:off x="827584" y="836712"/>
            <a:ext cx="2016224" cy="569698"/>
          </a:xfrm>
          <a:prstGeom prst="borderCallout1">
            <a:avLst>
              <a:gd name="adj1" fmla="val 43012"/>
              <a:gd name="adj2" fmla="val 102090"/>
              <a:gd name="adj3" fmla="val 231946"/>
              <a:gd name="adj4" fmla="val 1022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文件长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8254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字节</a:t>
            </a:r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DFB528BD-4CBB-460C-8BB5-5EA166465151}"/>
              </a:ext>
            </a:extLst>
          </p:cNvPr>
          <p:cNvSpPr/>
          <p:nvPr/>
        </p:nvSpPr>
        <p:spPr>
          <a:xfrm>
            <a:off x="6377334" y="764704"/>
            <a:ext cx="1795066" cy="864096"/>
          </a:xfrm>
          <a:prstGeom prst="borderCallout1">
            <a:avLst>
              <a:gd name="adj1" fmla="val 18750"/>
              <a:gd name="adj2" fmla="val -8333"/>
              <a:gd name="adj3" fmla="val 162057"/>
              <a:gd name="adj4" fmla="val -3774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文件头：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62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字节（包含图信息、调色板信息）</a:t>
            </a:r>
          </a:p>
        </p:txBody>
      </p:sp>
      <p:sp>
        <p:nvSpPr>
          <p:cNvPr id="6" name="标注: 线形 5">
            <a:extLst>
              <a:ext uri="{FF2B5EF4-FFF2-40B4-BE49-F238E27FC236}">
                <a16:creationId xmlns:a16="http://schemas.microsoft.com/office/drawing/2014/main" id="{634D311E-0D8E-4C05-9612-1B8B231C5D1C}"/>
              </a:ext>
            </a:extLst>
          </p:cNvPr>
          <p:cNvSpPr/>
          <p:nvPr/>
        </p:nvSpPr>
        <p:spPr>
          <a:xfrm>
            <a:off x="7884368" y="2069232"/>
            <a:ext cx="971600" cy="569698"/>
          </a:xfrm>
          <a:prstGeom prst="borderCallout1">
            <a:avLst>
              <a:gd name="adj1" fmla="val 18750"/>
              <a:gd name="adj2" fmla="val -8333"/>
              <a:gd name="adj3" fmla="val 52777"/>
              <a:gd name="adj4" fmla="val -5255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图信息：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40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字节</a:t>
            </a:r>
          </a:p>
        </p:txBody>
      </p:sp>
      <p:sp>
        <p:nvSpPr>
          <p:cNvPr id="7" name="标注: 线形 6">
            <a:extLst>
              <a:ext uri="{FF2B5EF4-FFF2-40B4-BE49-F238E27FC236}">
                <a16:creationId xmlns:a16="http://schemas.microsoft.com/office/drawing/2014/main" id="{0333DDD0-6603-4782-A127-A04B3B1D9511}"/>
              </a:ext>
            </a:extLst>
          </p:cNvPr>
          <p:cNvSpPr/>
          <p:nvPr/>
        </p:nvSpPr>
        <p:spPr>
          <a:xfrm>
            <a:off x="3203848" y="1340768"/>
            <a:ext cx="2232248" cy="569698"/>
          </a:xfrm>
          <a:prstGeom prst="borderCallout1">
            <a:avLst>
              <a:gd name="adj1" fmla="val 91537"/>
              <a:gd name="adj2" fmla="val 52014"/>
              <a:gd name="adj3" fmla="val 263674"/>
              <a:gd name="adj4" fmla="val -238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宽、高：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256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像素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95A2AEA-F572-4F13-8B23-06C34F37204B}"/>
              </a:ext>
            </a:extLst>
          </p:cNvPr>
          <p:cNvCxnSpPr>
            <a:stCxn id="7" idx="1"/>
          </p:cNvCxnSpPr>
          <p:nvPr/>
        </p:nvCxnSpPr>
        <p:spPr>
          <a:xfrm>
            <a:off x="4319972" y="1910466"/>
            <a:ext cx="396044" cy="10144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04600DAD-8D08-409B-886C-2FDD01971984}"/>
              </a:ext>
            </a:extLst>
          </p:cNvPr>
          <p:cNvSpPr/>
          <p:nvPr/>
        </p:nvSpPr>
        <p:spPr>
          <a:xfrm>
            <a:off x="7884368" y="3789040"/>
            <a:ext cx="1259632" cy="569698"/>
          </a:xfrm>
          <a:prstGeom prst="borderCallout1">
            <a:avLst>
              <a:gd name="adj1" fmla="val 18750"/>
              <a:gd name="adj2" fmla="val -8333"/>
              <a:gd name="adj3" fmla="val -96531"/>
              <a:gd name="adj4" fmla="val -1177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1bit/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像素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379B00-7F40-4F43-B00C-EEFA7142E471}"/>
              </a:ext>
            </a:extLst>
          </p:cNvPr>
          <p:cNvSpPr txBox="1"/>
          <p:nvPr/>
        </p:nvSpPr>
        <p:spPr>
          <a:xfrm>
            <a:off x="467544" y="5877272"/>
            <a:ext cx="324036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256x256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像素共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8192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字节，</a:t>
            </a:r>
            <a:endParaRPr lang="zh-CN" altLang="en-US" b="1" dirty="0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5DAB5A56-0397-4685-83EE-FD3AEB1481BF}"/>
              </a:ext>
            </a:extLst>
          </p:cNvPr>
          <p:cNvSpPr/>
          <p:nvPr/>
        </p:nvSpPr>
        <p:spPr>
          <a:xfrm>
            <a:off x="8460432" y="4574762"/>
            <a:ext cx="216024" cy="125430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4BED69-5B04-43E8-8F97-E7ECAD4D3D7C}"/>
              </a:ext>
            </a:extLst>
          </p:cNvPr>
          <p:cNvCxnSpPr>
            <a:cxnSpLocks/>
          </p:cNvCxnSpPr>
          <p:nvPr/>
        </p:nvCxnSpPr>
        <p:spPr>
          <a:xfrm>
            <a:off x="3203848" y="3944605"/>
            <a:ext cx="360040" cy="19326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95E7AFD-0A3C-4F2A-9705-A61C35B4563A}"/>
              </a:ext>
            </a:extLst>
          </p:cNvPr>
          <p:cNvSpPr txBox="1"/>
          <p:nvPr/>
        </p:nvSpPr>
        <p:spPr>
          <a:xfrm>
            <a:off x="4175956" y="5517232"/>
            <a:ext cx="367240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0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：表示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BGR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均为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0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的颜</a:t>
            </a:r>
            <a:r>
              <a:rPr lang="zh-CN" altLang="en-US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色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黑</a:t>
            </a:r>
            <a:endParaRPr lang="en-US" altLang="zh-CN" sz="1800" b="1" kern="0" dirty="0">
              <a:solidFill>
                <a:srgbClr val="4B4B4B"/>
              </a:solidFill>
              <a:effectLst/>
              <a:latin typeface="Verdana" panose="020B0604030504040204" pitchFamily="34" charset="0"/>
              <a:ea typeface="宋体" panose="02010600030101010101" pitchFamily="2" charset="-122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：表示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BGR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均为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255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</a:rPr>
              <a:t>的颜色</a:t>
            </a:r>
            <a:r>
              <a:rPr lang="en-US" altLang="zh-CN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800" b="1" kern="0" dirty="0">
                <a:solidFill>
                  <a:srgbClr val="4B4B4B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白</a:t>
            </a:r>
            <a:endParaRPr lang="en-US" altLang="zh-CN" sz="1800" b="1" kern="0" dirty="0">
              <a:solidFill>
                <a:srgbClr val="4B4B4B"/>
              </a:solidFill>
              <a:effectLst/>
              <a:latin typeface="Verdana" panose="020B0604030504040204" pitchFamily="34" charset="0"/>
              <a:ea typeface="宋体" panose="02010600030101010101" pitchFamily="2" charset="-122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r>
              <a:rPr lang="zh-CN" altLang="en-US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即：每个像素用一个二进制符号表示，</a:t>
            </a:r>
            <a:r>
              <a:rPr lang="en-US" altLang="zh-CN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0—</a:t>
            </a:r>
            <a:r>
              <a:rPr lang="zh-CN" altLang="en-US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表示黑色、</a:t>
            </a:r>
            <a:r>
              <a:rPr lang="en-US" altLang="zh-CN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1—</a:t>
            </a:r>
            <a:r>
              <a:rPr lang="zh-CN" altLang="en-US" b="1" kern="0" dirty="0">
                <a:solidFill>
                  <a:srgbClr val="4B4B4B"/>
                </a:solidFill>
                <a:latin typeface="Verdana" panose="020B0604030504040204" pitchFamily="34" charset="0"/>
                <a:ea typeface="宋体" panose="02010600030101010101" pitchFamily="2" charset="-122"/>
                <a:cs typeface="Helvetica" panose="020B0604020202020204" pitchFamily="34" charset="0"/>
                <a:sym typeface="Wingdings" panose="05000000000000000000" pitchFamily="2" charset="2"/>
              </a:rPr>
              <a:t>表示白色</a:t>
            </a:r>
            <a:endParaRPr lang="zh-CN" altLang="en-US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8F2FD94-3FA8-4E6F-9270-B4C210C7B54D}"/>
              </a:ext>
            </a:extLst>
          </p:cNvPr>
          <p:cNvCxnSpPr>
            <a:cxnSpLocks/>
          </p:cNvCxnSpPr>
          <p:nvPr/>
        </p:nvCxnSpPr>
        <p:spPr>
          <a:xfrm>
            <a:off x="4355976" y="4664685"/>
            <a:ext cx="648072" cy="9152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5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362FB9-8C34-4B7C-95FF-90198C62CAC8}"/>
              </a:ext>
            </a:extLst>
          </p:cNvPr>
          <p:cNvSpPr txBox="1"/>
          <p:nvPr/>
        </p:nvSpPr>
        <p:spPr>
          <a:xfrm>
            <a:off x="0" y="332656"/>
            <a:ext cx="8813726" cy="7629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n-ea"/>
              </a:rPr>
              <a:t>关于编程相关问题</a:t>
            </a:r>
            <a:endParaRPr lang="en-US" altLang="zh-CN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友情提示：</a:t>
            </a: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n-ea"/>
              </a:rPr>
              <a:t>算数编码</a:t>
            </a:r>
            <a:endParaRPr lang="en-US" altLang="zh-CN" b="1" dirty="0">
              <a:latin typeface="+mn-ea"/>
            </a:endParaRPr>
          </a:p>
          <a:p>
            <a:pPr marL="1714500" lvl="3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+mn-ea"/>
              </a:rPr>
              <a:t>如果不考虑图像格式，将图像看成文件数据流进行压缩时，可以将文件进行</a:t>
            </a:r>
            <a:r>
              <a:rPr lang="en-US" altLang="zh-CN" b="1" dirty="0">
                <a:latin typeface="+mn-ea"/>
              </a:rPr>
              <a:t>64</a:t>
            </a:r>
            <a:r>
              <a:rPr lang="zh-CN" altLang="en-US" b="1" dirty="0">
                <a:latin typeface="+mn-ea"/>
              </a:rPr>
              <a:t>或者</a:t>
            </a:r>
            <a:r>
              <a:rPr lang="en-US" altLang="zh-CN" b="1" dirty="0">
                <a:latin typeface="+mn-ea"/>
              </a:rPr>
              <a:t>256</a:t>
            </a:r>
            <a:r>
              <a:rPr lang="zh-CN" altLang="en-US" b="1" dirty="0">
                <a:latin typeface="+mn-ea"/>
              </a:rPr>
              <a:t>长度的分组，以每一块（分组）数据为单元进行编码，以减少复杂度。</a:t>
            </a:r>
            <a:endParaRPr lang="en-US" altLang="zh-CN" b="1" dirty="0">
              <a:latin typeface="+mn-ea"/>
            </a:endParaRPr>
          </a:p>
          <a:p>
            <a:pPr marL="1714500" lvl="3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+mn-ea"/>
              </a:rPr>
              <a:t>如果采用去掉</a:t>
            </a:r>
            <a:r>
              <a:rPr lang="en-US" altLang="zh-CN" b="1" dirty="0">
                <a:latin typeface="+mn-ea"/>
              </a:rPr>
              <a:t>BMP</a:t>
            </a:r>
            <a:r>
              <a:rPr lang="zh-CN" altLang="en-US" b="1" dirty="0">
                <a:latin typeface="+mn-ea"/>
              </a:rPr>
              <a:t>文件格式仅对图像数据压缩的方法时，可以将图像数据做</a:t>
            </a:r>
            <a:r>
              <a:rPr lang="en-US" altLang="zh-CN" b="1" dirty="0">
                <a:latin typeface="+mn-ea"/>
              </a:rPr>
              <a:t>8x8</a:t>
            </a:r>
            <a:r>
              <a:rPr lang="zh-CN" altLang="en-US" b="1" dirty="0">
                <a:latin typeface="+mn-ea"/>
              </a:rPr>
              <a:t>或者</a:t>
            </a:r>
            <a:r>
              <a:rPr lang="en-US" altLang="zh-CN" b="1" dirty="0">
                <a:latin typeface="+mn-ea"/>
              </a:rPr>
              <a:t>16x16</a:t>
            </a:r>
            <a:r>
              <a:rPr lang="zh-CN" altLang="en-US" b="1" dirty="0">
                <a:latin typeface="+mn-ea"/>
              </a:rPr>
              <a:t>的数据分块，以每一块（分组）数据为单元进行编码，以减少复杂度。</a:t>
            </a:r>
            <a:endParaRPr lang="en-US" altLang="zh-CN" b="1" dirty="0">
              <a:latin typeface="+mn-ea"/>
            </a:endParaRPr>
          </a:p>
          <a:p>
            <a:pPr marL="1714500" lvl="3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+mn-ea"/>
              </a:rPr>
              <a:t>先验统计特性可以通过对一个分组（或分块）内的</a:t>
            </a:r>
            <a:r>
              <a:rPr lang="en-US" altLang="zh-CN" b="1" dirty="0">
                <a:latin typeface="+mn-ea"/>
              </a:rPr>
              <a:t>0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频次统计获得。（进一步：可以设置成分块（或分组）长度可选，通过不同选择考察不同分块或分组大小对压缩比的影响）</a:t>
            </a: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4096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362FB9-8C34-4B7C-95FF-90198C62CAC8}"/>
              </a:ext>
            </a:extLst>
          </p:cNvPr>
          <p:cNvSpPr txBox="1"/>
          <p:nvPr/>
        </p:nvSpPr>
        <p:spPr>
          <a:xfrm>
            <a:off x="0" y="332656"/>
            <a:ext cx="8813726" cy="6382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n-ea"/>
              </a:rPr>
              <a:t>关于编程相关问题</a:t>
            </a:r>
            <a:endParaRPr lang="en-US" altLang="zh-CN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友情提示：</a:t>
            </a: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n-ea"/>
              </a:rPr>
              <a:t>LZ77/LZW</a:t>
            </a:r>
            <a:r>
              <a:rPr lang="zh-CN" altLang="en-US" b="1" dirty="0">
                <a:latin typeface="+mn-ea"/>
              </a:rPr>
              <a:t>编码</a:t>
            </a:r>
            <a:endParaRPr lang="en-US" altLang="zh-CN" b="1" dirty="0">
              <a:latin typeface="+mn-ea"/>
            </a:endParaRPr>
          </a:p>
          <a:p>
            <a:pPr marL="1714500" lvl="3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+mn-ea"/>
              </a:rPr>
              <a:t>可以将每个字节的数据读成其</a:t>
            </a:r>
            <a:r>
              <a:rPr lang="en-US" altLang="zh-CN" b="1" dirty="0">
                <a:latin typeface="+mn-ea"/>
              </a:rPr>
              <a:t>ACCII(</a:t>
            </a:r>
            <a:r>
              <a:rPr lang="zh-CN" altLang="en-US" b="1" dirty="0">
                <a:latin typeface="+mn-ea"/>
              </a:rPr>
              <a:t>或</a:t>
            </a:r>
            <a:r>
              <a:rPr lang="en-US" altLang="zh-CN" b="1" dirty="0">
                <a:latin typeface="+mn-ea"/>
              </a:rPr>
              <a:t>EBCDIC</a:t>
            </a:r>
            <a:r>
              <a:rPr lang="zh-CN" altLang="en-US" b="1" dirty="0">
                <a:latin typeface="+mn-ea"/>
              </a:rPr>
              <a:t>）字符，对构成文件的字符串进行编码。前看缓存区大小（</a:t>
            </a:r>
            <a:r>
              <a:rPr lang="en-US" altLang="zh-CN" b="1" dirty="0">
                <a:latin typeface="+mn-ea"/>
              </a:rPr>
              <a:t>LZ77</a:t>
            </a:r>
            <a:r>
              <a:rPr lang="zh-CN" altLang="en-US" b="1" dirty="0">
                <a:latin typeface="+mn-ea"/>
              </a:rPr>
              <a:t>编码）以及字典大小（</a:t>
            </a:r>
            <a:r>
              <a:rPr lang="en-US" altLang="zh-CN" b="1" dirty="0">
                <a:latin typeface="+mn-ea"/>
              </a:rPr>
              <a:t>LZW</a:t>
            </a:r>
            <a:r>
              <a:rPr lang="zh-CN" altLang="en-US" b="1" dirty="0">
                <a:latin typeface="+mn-ea"/>
              </a:rPr>
              <a:t>编码）自定义（进一步：可以设置成大小可选，通过不同选择考察不同大小对压缩比的影响）</a:t>
            </a: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n-ea"/>
              </a:rPr>
              <a:t>附件</a:t>
            </a:r>
            <a:r>
              <a:rPr lang="en-US" altLang="zh-CN" b="1" dirty="0">
                <a:latin typeface="+mn-ea"/>
              </a:rPr>
              <a:t>2</a:t>
            </a:r>
            <a:r>
              <a:rPr lang="zh-CN" altLang="en-US" b="1" dirty="0">
                <a:latin typeface="+mn-ea"/>
              </a:rPr>
              <a:t>是基于</a:t>
            </a:r>
            <a:r>
              <a:rPr lang="en-US" altLang="zh-CN" b="1" dirty="0">
                <a:latin typeface="+mn-ea"/>
              </a:rPr>
              <a:t>C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MATLAB</a:t>
            </a:r>
            <a:r>
              <a:rPr lang="zh-CN" altLang="en-US" b="1" dirty="0">
                <a:latin typeface="+mn-ea"/>
              </a:rPr>
              <a:t>的文件读写、以及可能用到的常用功能的参考源码</a:t>
            </a:r>
            <a:endParaRPr lang="en-US" altLang="zh-CN" b="1" dirty="0">
              <a:latin typeface="+mn-ea"/>
            </a:endParaRPr>
          </a:p>
          <a:p>
            <a:pPr marL="1714500" lvl="3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+mn-ea"/>
              </a:rPr>
              <a:t>仅供参考。</a:t>
            </a: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776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4435</TotalTime>
  <Words>1527</Words>
  <Application>Microsoft Macintosh PowerPoint</Application>
  <PresentationFormat>On-screen Show (4:3)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等线</vt:lpstr>
      <vt:lpstr>宋体</vt:lpstr>
      <vt:lpstr>Arial</vt:lpstr>
      <vt:lpstr>Calibri</vt:lpstr>
      <vt:lpstr>Verdana</vt:lpstr>
      <vt:lpstr>Wingdings</vt:lpstr>
      <vt:lpstr>Office 主题​​</vt:lpstr>
      <vt:lpstr>第三章研讨内容</vt:lpstr>
      <vt:lpstr>-无失真信源编码 </vt:lpstr>
      <vt:lpstr>-无失真信源编码 </vt:lpstr>
      <vt:lpstr>-无失真信源编码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第四章作业</dc:title>
  <dc:creator>微软用户</dc:creator>
  <cp:lastModifiedBy>Ying Ma</cp:lastModifiedBy>
  <cp:revision>57</cp:revision>
  <dcterms:created xsi:type="dcterms:W3CDTF">2015-04-21T08:07:28Z</dcterms:created>
  <dcterms:modified xsi:type="dcterms:W3CDTF">2024-04-15T14:11:00Z</dcterms:modified>
</cp:coreProperties>
</file>