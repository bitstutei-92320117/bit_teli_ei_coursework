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84" r:id="rId3"/>
    <p:sldId id="285" r:id="rId4"/>
    <p:sldId id="263" r:id="rId5"/>
    <p:sldId id="289" r:id="rId6"/>
    <p:sldId id="269" r:id="rId7"/>
    <p:sldId id="288" r:id="rId8"/>
    <p:sldId id="274" r:id="rId9"/>
    <p:sldId id="286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92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01699-7FA1-4C49-B8D1-2E600C95EBE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09FE1-09AA-4296-83FD-92DA01BBA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31664-AC63-46F9-AED0-DC949CC8FBE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876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27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98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26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89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43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57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08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31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95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98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3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36665-31F6-4E02-BA94-E06E76C6ED79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DD9A1-EB26-4B5E-B94B-FB3F86B10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98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9328" y="0"/>
            <a:ext cx="7772400" cy="1470025"/>
          </a:xfrm>
        </p:spPr>
        <p:txBody>
          <a:bodyPr/>
          <a:lstStyle/>
          <a:p>
            <a:r>
              <a:rPr lang="zh-CN" altLang="en-US" dirty="0"/>
              <a:t>第四章 研究性学习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76E060-7C2F-4FE8-B91A-17D4208E5D9E}"/>
              </a:ext>
            </a:extLst>
          </p:cNvPr>
          <p:cNvSpPr txBox="1"/>
          <p:nvPr/>
        </p:nvSpPr>
        <p:spPr>
          <a:xfrm>
            <a:off x="213284" y="1439157"/>
            <a:ext cx="8964488" cy="4733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/>
              <a:t>分组选题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/>
              <a:t>DDL</a:t>
            </a:r>
            <a:r>
              <a:rPr lang="zh-CN" altLang="en-US" sz="2000" b="1" dirty="0"/>
              <a:t>：</a:t>
            </a:r>
            <a:endParaRPr lang="en-US" altLang="zh-CN" sz="2000" b="1" dirty="0"/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题（卷积码）：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15</a:t>
            </a:r>
            <a:r>
              <a:rPr lang="zh-CN" altLang="en-US" sz="2000" b="1" dirty="0"/>
              <a:t>日</a:t>
            </a:r>
            <a:r>
              <a:rPr lang="en-US" altLang="zh-CN" sz="2000" b="1" dirty="0"/>
              <a:t>13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20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第</a:t>
            </a:r>
            <a:r>
              <a:rPr lang="en-US" altLang="zh-CN" sz="2000" b="1" dirty="0"/>
              <a:t>2~5</a:t>
            </a:r>
            <a:r>
              <a:rPr lang="zh-CN" altLang="en-US" sz="2000" b="1" dirty="0"/>
              <a:t>题： 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月</a:t>
            </a:r>
            <a:r>
              <a:rPr lang="en-US" altLang="zh-CN" sz="2000" b="1" dirty="0"/>
              <a:t>22</a:t>
            </a:r>
            <a:r>
              <a:rPr lang="zh-CN" altLang="en-US" sz="2000" b="1" dirty="0"/>
              <a:t>日</a:t>
            </a:r>
            <a:r>
              <a:rPr lang="en-US" altLang="zh-CN" sz="2000" b="1" dirty="0"/>
              <a:t>13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20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组内成员分工协作，如何分工组内自定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编程语言及开发系统可自选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建议使用</a:t>
            </a:r>
            <a:r>
              <a:rPr lang="en-US" altLang="zh-CN" sz="2000" b="1" dirty="0"/>
              <a:t>python/</a:t>
            </a:r>
            <a:r>
              <a:rPr lang="en-US" altLang="zh-CN" sz="2000" b="1" dirty="0" err="1"/>
              <a:t>matlab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将程序源码、编译后的可执行程序、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文档一起打包至乐学，打包的文件以选择的题目命名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/>
              <a:t>会根据程序运行结果和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选择优秀的小组进行课堂讲解</a:t>
            </a:r>
            <a:endParaRPr lang="en-US" altLang="zh-CN" sz="20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F0FDA8-B0E1-421C-9732-27ACEB11F620}"/>
              </a:ext>
            </a:extLst>
          </p:cNvPr>
          <p:cNvSpPr txBox="1"/>
          <p:nvPr/>
        </p:nvSpPr>
        <p:spPr>
          <a:xfrm>
            <a:off x="538843" y="1008360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要求：</a:t>
            </a:r>
          </a:p>
        </p:txBody>
      </p:sp>
    </p:spTree>
    <p:extLst>
      <p:ext uri="{BB962C8B-B14F-4D97-AF65-F5344CB8AC3E}">
        <p14:creationId xmlns:p14="http://schemas.microsoft.com/office/powerpoint/2010/main" val="2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1080120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、研究性学习目的：感受通信系统通过信道编码提高传输可靠性的过程</a:t>
            </a:r>
            <a:endParaRPr lang="en-US" altLang="zh-CN" sz="1800" b="1" dirty="0">
              <a:latin typeface="+mn-ea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、模拟场景：</a:t>
            </a:r>
            <a:endParaRPr lang="en-US" altLang="zh-CN" sz="18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28455F-ABCF-8CBA-F70F-4D2DF155F9D2}"/>
              </a:ext>
            </a:extLst>
          </p:cNvPr>
          <p:cNvSpPr txBox="1"/>
          <p:nvPr/>
        </p:nvSpPr>
        <p:spPr>
          <a:xfrm>
            <a:off x="457200" y="4110233"/>
            <a:ext cx="3178696" cy="397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1400" b="1" dirty="0">
                <a:latin typeface="+mn-ea"/>
              </a:rPr>
              <a:t>场景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：没有信道编码模块传输</a:t>
            </a:r>
            <a:endParaRPr lang="en-US" altLang="zh-CN" sz="1400" b="1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1CAEA0-3473-2406-799D-F2598EC86B2A}"/>
              </a:ext>
            </a:extLst>
          </p:cNvPr>
          <p:cNvSpPr txBox="1"/>
          <p:nvPr/>
        </p:nvSpPr>
        <p:spPr>
          <a:xfrm>
            <a:off x="5148064" y="4110234"/>
            <a:ext cx="3178696" cy="397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1400" b="1" dirty="0">
                <a:latin typeface="+mn-ea"/>
              </a:rPr>
              <a:t>场景</a:t>
            </a:r>
            <a:r>
              <a:rPr lang="en-US" altLang="zh-CN" sz="1400" b="1" dirty="0">
                <a:latin typeface="+mn-ea"/>
              </a:rPr>
              <a:t>2</a:t>
            </a:r>
            <a:r>
              <a:rPr lang="zh-CN" altLang="en-US" sz="1400" b="1" dirty="0">
                <a:latin typeface="+mn-ea"/>
              </a:rPr>
              <a:t>：具有信道编码模块传输</a:t>
            </a:r>
            <a:endParaRPr lang="en-US" altLang="zh-CN" sz="1400" b="1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3DB06B2-9EE4-B5F7-0277-101F0897C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292025"/>
            <a:ext cx="3877451" cy="160565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9F44B61-1918-C4BB-BEED-15E54DA22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41" y="2279351"/>
            <a:ext cx="2653315" cy="1556989"/>
          </a:xfrm>
          <a:prstGeom prst="rect">
            <a:avLst/>
          </a:prstGeom>
        </p:spPr>
      </p:pic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53DD5585-9547-D15B-1AEB-BC73DD8D9F5D}"/>
              </a:ext>
            </a:extLst>
          </p:cNvPr>
          <p:cNvSpPr txBox="1">
            <a:spLocks/>
          </p:cNvSpPr>
          <p:nvPr/>
        </p:nvSpPr>
        <p:spPr>
          <a:xfrm>
            <a:off x="179512" y="4781478"/>
            <a:ext cx="8712968" cy="1801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buFont typeface="Arial" pitchFamily="34" charset="0"/>
              <a:buNone/>
            </a:pP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、研究过程：</a:t>
            </a:r>
            <a:endParaRPr lang="en-US" altLang="zh-CN" sz="1800" b="1" dirty="0">
              <a:latin typeface="+mn-ea"/>
            </a:endParaRPr>
          </a:p>
          <a:p>
            <a:pPr marL="685800" lvl="1">
              <a:lnSpc>
                <a:spcPct val="170000"/>
              </a:lnSpc>
            </a:pPr>
            <a:r>
              <a:rPr lang="zh-CN" altLang="en-US" sz="1400" b="1" dirty="0">
                <a:latin typeface="+mn-ea"/>
              </a:rPr>
              <a:t>通过比较场景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的</a:t>
            </a:r>
            <a:r>
              <a:rPr lang="en-US" altLang="zh-CN" sz="1400" b="1" dirty="0">
                <a:latin typeface="+mn-ea"/>
              </a:rPr>
              <a:t>0.bmp</a:t>
            </a:r>
            <a:r>
              <a:rPr lang="zh-CN" altLang="en-US" sz="1400" b="1" dirty="0">
                <a:latin typeface="+mn-ea"/>
              </a:rPr>
              <a:t>与</a:t>
            </a:r>
            <a:r>
              <a:rPr lang="en-US" altLang="zh-CN" sz="1400" b="1" dirty="0">
                <a:latin typeface="+mn-ea"/>
              </a:rPr>
              <a:t>1-1.bmp</a:t>
            </a:r>
            <a:r>
              <a:rPr lang="zh-CN" altLang="en-US" sz="1400" b="1" dirty="0">
                <a:latin typeface="+mn-ea"/>
              </a:rPr>
              <a:t>，观察没有信道编码模块时有噪传输的结果</a:t>
            </a:r>
            <a:endParaRPr lang="en-US" altLang="zh-CN" sz="1400" b="1" dirty="0">
              <a:latin typeface="+mn-ea"/>
            </a:endParaRPr>
          </a:p>
          <a:p>
            <a:pPr marL="685800" lvl="1">
              <a:lnSpc>
                <a:spcPct val="170000"/>
              </a:lnSpc>
            </a:pPr>
            <a:r>
              <a:rPr lang="zh-CN" altLang="en-US" sz="1400" b="1" dirty="0">
                <a:latin typeface="+mn-ea"/>
              </a:rPr>
              <a:t>通过比较场景</a:t>
            </a:r>
            <a:r>
              <a:rPr lang="en-US" altLang="zh-CN" sz="1400" b="1" dirty="0">
                <a:latin typeface="+mn-ea"/>
              </a:rPr>
              <a:t>2</a:t>
            </a:r>
            <a:r>
              <a:rPr lang="zh-CN" altLang="en-US" sz="1400" b="1" dirty="0">
                <a:latin typeface="+mn-ea"/>
              </a:rPr>
              <a:t>的</a:t>
            </a:r>
            <a:r>
              <a:rPr lang="en-US" altLang="zh-CN" sz="1400" b="1" dirty="0">
                <a:latin typeface="+mn-ea"/>
              </a:rPr>
              <a:t>0.bmp</a:t>
            </a:r>
            <a:r>
              <a:rPr lang="zh-CN" altLang="en-US" sz="1400" b="1" dirty="0">
                <a:latin typeface="+mn-ea"/>
              </a:rPr>
              <a:t>与</a:t>
            </a:r>
            <a:r>
              <a:rPr lang="en-US" altLang="zh-CN" sz="1400" b="1" dirty="0">
                <a:latin typeface="+mn-ea"/>
              </a:rPr>
              <a:t>2-3.bmp</a:t>
            </a:r>
            <a:r>
              <a:rPr lang="zh-CN" altLang="en-US" sz="1400" b="1" dirty="0">
                <a:latin typeface="+mn-ea"/>
              </a:rPr>
              <a:t>，观察具有信道编码模块时的有噪传输的结果</a:t>
            </a:r>
            <a:endParaRPr lang="en-US" altLang="zh-CN" sz="1400" b="1" dirty="0">
              <a:latin typeface="+mn-ea"/>
            </a:endParaRPr>
          </a:p>
          <a:p>
            <a:pPr marL="685800" lvl="1">
              <a:lnSpc>
                <a:spcPct val="170000"/>
              </a:lnSpc>
            </a:pPr>
            <a:r>
              <a:rPr lang="zh-CN" altLang="en-US" sz="1400" b="1" dirty="0">
                <a:latin typeface="+mn-ea"/>
              </a:rPr>
              <a:t>通过比较</a:t>
            </a:r>
            <a:r>
              <a:rPr lang="en-US" altLang="zh-CN" sz="1400" b="1" dirty="0">
                <a:latin typeface="+mn-ea"/>
              </a:rPr>
              <a:t>1-1.bmp</a:t>
            </a:r>
            <a:r>
              <a:rPr lang="zh-CN" altLang="en-US" sz="1400" b="1" dirty="0">
                <a:latin typeface="+mn-ea"/>
              </a:rPr>
              <a:t>与</a:t>
            </a:r>
            <a:r>
              <a:rPr lang="en-US" altLang="zh-CN" sz="1400" b="1" dirty="0">
                <a:latin typeface="+mn-ea"/>
              </a:rPr>
              <a:t>2-3.bmp</a:t>
            </a:r>
            <a:r>
              <a:rPr lang="zh-CN" altLang="en-US" sz="1400" b="1" dirty="0">
                <a:latin typeface="+mn-ea"/>
              </a:rPr>
              <a:t>，分析通过信道编码模块提高传输可靠性的性能</a:t>
            </a:r>
            <a:endParaRPr lang="en-US" altLang="zh-CN" sz="1400" b="1" dirty="0">
              <a:latin typeface="+mn-ea"/>
            </a:endParaRPr>
          </a:p>
          <a:p>
            <a:pPr marL="685800" lvl="1">
              <a:lnSpc>
                <a:spcPct val="170000"/>
              </a:lnSpc>
            </a:pPr>
            <a:endParaRPr lang="en-US" altLang="zh-CN" sz="14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endParaRPr lang="en-US" altLang="zh-CN" sz="16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Font typeface="Arial" pitchFamily="34" charset="0"/>
              <a:buNone/>
            </a:pP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102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602634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800" b="1" dirty="0">
                <a:latin typeface="+mn-ea"/>
              </a:rPr>
              <a:t>1. </a:t>
            </a:r>
            <a:r>
              <a:rPr lang="zh-CN" altLang="en-US" sz="2800" b="1" dirty="0">
                <a:latin typeface="+mn-ea"/>
              </a:rPr>
              <a:t>卷积码</a:t>
            </a:r>
            <a:endParaRPr lang="en-US" altLang="zh-CN" sz="2800" b="1" dirty="0">
              <a:latin typeface="+mn-ea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编码参数：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sym typeface="Wingdings" panose="05000000000000000000" pitchFamily="2" charset="2"/>
              </a:rPr>
              <a:t>非系统</a:t>
            </a:r>
            <a:r>
              <a:rPr lang="en-US" altLang="zh-CN" sz="2200" b="1" dirty="0">
                <a:latin typeface="+mn-ea"/>
                <a:sym typeface="Wingdings" panose="05000000000000000000" pitchFamily="2" charset="2"/>
              </a:rPr>
              <a:t>(2</a:t>
            </a:r>
            <a:r>
              <a:rPr lang="zh-CN" altLang="en-US" sz="2200" b="1" dirty="0">
                <a:latin typeface="+mn-ea"/>
                <a:sym typeface="Wingdings" panose="05000000000000000000" pitchFamily="2" charset="2"/>
              </a:rPr>
              <a:t>，</a:t>
            </a:r>
            <a:r>
              <a:rPr lang="en-US" altLang="zh-CN" sz="2200" b="1" dirty="0">
                <a:latin typeface="+mn-ea"/>
                <a:sym typeface="Wingdings" panose="05000000000000000000" pitchFamily="2" charset="2"/>
              </a:rPr>
              <a:t>1</a:t>
            </a:r>
            <a:r>
              <a:rPr lang="zh-CN" altLang="en-US" sz="2200" b="1" dirty="0">
                <a:latin typeface="+mn-ea"/>
                <a:sym typeface="Wingdings" panose="05000000000000000000" pitchFamily="2" charset="2"/>
              </a:rPr>
              <a:t>，</a:t>
            </a:r>
            <a:r>
              <a:rPr lang="en-US" altLang="zh-CN" sz="2200" b="1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200" b="1" dirty="0">
                <a:latin typeface="+mn-ea"/>
                <a:sym typeface="Wingdings" panose="05000000000000000000" pitchFamily="2" charset="2"/>
              </a:rPr>
              <a:t>）卷积码，生成元为</a:t>
            </a:r>
            <a:r>
              <a:rPr lang="en-US" altLang="zh-CN" sz="2200" b="1" dirty="0">
                <a:latin typeface="+mn-ea"/>
                <a:sym typeface="Wingdings" panose="05000000000000000000" pitchFamily="2" charset="2"/>
              </a:rPr>
              <a:t>g(1)=101,g(2)=111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系统（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3</a:t>
            </a: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，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1</a:t>
            </a: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，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）卷积码，生成元为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g(1)=100,g(2)=101,g(3)=110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非系统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(3,1,2)</a:t>
            </a: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卷积码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,</a:t>
            </a:r>
            <a:r>
              <a:rPr lang="zh-CN" altLang="en-US" sz="2000" b="1" dirty="0">
                <a:latin typeface="+mn-ea"/>
                <a:sym typeface="Wingdings" panose="05000000000000000000" pitchFamily="2" charset="2"/>
              </a:rPr>
              <a:t>生成元为</a:t>
            </a:r>
            <a:r>
              <a:rPr lang="en-US" altLang="zh-CN" sz="2000" b="1" dirty="0">
                <a:latin typeface="+mn-ea"/>
                <a:sym typeface="Wingdings" panose="05000000000000000000" pitchFamily="2" charset="2"/>
              </a:rPr>
              <a:t>h(1)=110,g(2)=101,g(3)=111</a:t>
            </a: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zh-CN" altLang="en-US" sz="2400" b="1" dirty="0">
                <a:latin typeface="+mn-ea"/>
              </a:rPr>
              <a:t>采用维特比译码算法或其他译码算法对编码数据进行译码</a:t>
            </a:r>
            <a:endParaRPr lang="en-US" altLang="zh-CN" sz="2400" b="1" dirty="0">
              <a:latin typeface="+mn-ea"/>
            </a:endParaRP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517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376" y="1052736"/>
            <a:ext cx="8462104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2. </a:t>
            </a:r>
            <a:r>
              <a:rPr lang="en-US" altLang="zh-CN" dirty="0"/>
              <a:t>TURBO</a:t>
            </a:r>
            <a:r>
              <a:rPr lang="zh-CN" altLang="en-US" dirty="0"/>
              <a:t>编码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查资料学习</a:t>
            </a:r>
            <a:r>
              <a:rPr lang="en-US" altLang="zh-CN" dirty="0"/>
              <a:t>Turbo</a:t>
            </a:r>
            <a:r>
              <a:rPr lang="zh-CN" altLang="en-US" dirty="0"/>
              <a:t>编码算法的组成与原理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分析</a:t>
            </a:r>
            <a:r>
              <a:rPr lang="en-US" altLang="zh-CN" dirty="0"/>
              <a:t>Turbo</a:t>
            </a:r>
            <a:r>
              <a:rPr lang="zh-CN" altLang="en-US" dirty="0"/>
              <a:t>算法的特点和性能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比较</a:t>
            </a:r>
            <a:r>
              <a:rPr lang="en-US" altLang="zh-CN" dirty="0"/>
              <a:t>Turbo</a:t>
            </a:r>
            <a:r>
              <a:rPr lang="zh-CN" altLang="en-US" dirty="0"/>
              <a:t>算法与卷积编码的关系与异同点？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编程实现</a:t>
            </a:r>
            <a:r>
              <a:rPr lang="en-US" altLang="zh-CN" dirty="0"/>
              <a:t>TURBO</a:t>
            </a:r>
            <a:r>
              <a:rPr lang="zh-CN" altLang="en-US" dirty="0"/>
              <a:t>编译码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编码参数自定，建议参考</a:t>
            </a:r>
            <a:r>
              <a:rPr lang="en-US" altLang="zh-CN" dirty="0"/>
              <a:t>CCSDS </a:t>
            </a:r>
            <a:r>
              <a:rPr lang="zh-CN" altLang="en-US" dirty="0"/>
              <a:t>或者</a:t>
            </a:r>
            <a:r>
              <a:rPr lang="en-US" altLang="zh-CN" dirty="0"/>
              <a:t>DVB-S2X</a:t>
            </a:r>
            <a:r>
              <a:rPr lang="zh-CN" altLang="en-US" dirty="0"/>
              <a:t>等无线通信、卫星通信协议的编码参数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实现 </a:t>
            </a:r>
            <a:r>
              <a:rPr lang="en-US" altLang="zh-CN" dirty="0"/>
              <a:t>BCJR </a:t>
            </a:r>
            <a:r>
              <a:rPr lang="zh-CN" altLang="en-US" dirty="0"/>
              <a:t>算法或 </a:t>
            </a:r>
            <a:r>
              <a:rPr lang="en-US" altLang="zh-CN" dirty="0"/>
              <a:t>Log-MAP </a:t>
            </a:r>
            <a:r>
              <a:rPr lang="zh-CN" altLang="en-US" dirty="0"/>
              <a:t>算法进行迭代解码（至少 </a:t>
            </a:r>
            <a:r>
              <a:rPr lang="en-US" altLang="zh-CN" dirty="0"/>
              <a:t>5 </a:t>
            </a:r>
            <a:r>
              <a:rPr lang="zh-CN" altLang="en-US" dirty="0"/>
              <a:t>次迭代），若译码算法过于复杂，可用 </a:t>
            </a:r>
            <a:r>
              <a:rPr lang="en-US" altLang="zh-CN" dirty="0"/>
              <a:t>SOVA</a:t>
            </a:r>
            <a:r>
              <a:rPr lang="zh-CN" altLang="en-US" dirty="0"/>
              <a:t>（软输出维特比）简化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9D03355-B301-4619-92B9-8D7F1B1D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892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376" y="1052736"/>
            <a:ext cx="8462104" cy="452596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3. </a:t>
            </a:r>
            <a:r>
              <a:rPr lang="en-US" altLang="zh-CN" dirty="0"/>
              <a:t>TPC</a:t>
            </a:r>
            <a:r>
              <a:rPr lang="zh-CN" altLang="en-US" dirty="0"/>
              <a:t>编码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查资料学习</a:t>
            </a:r>
            <a:r>
              <a:rPr lang="en-US" altLang="zh-CN" dirty="0"/>
              <a:t>TPC</a:t>
            </a:r>
            <a:r>
              <a:rPr lang="zh-CN" altLang="en-US" dirty="0"/>
              <a:t>编码算法的组成与原理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分析</a:t>
            </a:r>
            <a:r>
              <a:rPr lang="en-US" altLang="zh-CN" dirty="0"/>
              <a:t>TPC</a:t>
            </a:r>
            <a:r>
              <a:rPr lang="zh-CN" altLang="en-US" dirty="0"/>
              <a:t>算法的特点和性能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编程实现</a:t>
            </a:r>
            <a:r>
              <a:rPr lang="en-US" altLang="zh-CN" dirty="0"/>
              <a:t>TPC</a:t>
            </a:r>
            <a:r>
              <a:rPr lang="zh-CN" altLang="en-US" dirty="0"/>
              <a:t>编译码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编码参数自定，建议参考</a:t>
            </a:r>
            <a:r>
              <a:rPr lang="en-US" altLang="zh-CN" dirty="0"/>
              <a:t>IEEE802.16</a:t>
            </a:r>
            <a:r>
              <a:rPr lang="zh-CN" altLang="en-US" dirty="0"/>
              <a:t>，</a:t>
            </a:r>
            <a:r>
              <a:rPr lang="en-US" altLang="zh-CN" dirty="0"/>
              <a:t>DVB-S2X</a:t>
            </a:r>
            <a:r>
              <a:rPr lang="zh-CN" altLang="en-US" dirty="0"/>
              <a:t>等无线通信、卫星通信协议的编码参数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自学</a:t>
            </a:r>
            <a:r>
              <a:rPr lang="en-US" altLang="zh-CN" dirty="0"/>
              <a:t>Chase</a:t>
            </a:r>
            <a:r>
              <a:rPr lang="zh-CN" altLang="en-US" dirty="0"/>
              <a:t>译码或其他译码方法编程完成信道译码</a:t>
            </a:r>
            <a:endParaRPr lang="en-US" altLang="zh-CN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9D03355-B301-4619-92B9-8D7F1B1D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80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376" y="1052736"/>
            <a:ext cx="8462104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4. RS</a:t>
            </a:r>
            <a:r>
              <a:rPr lang="zh-CN" altLang="en-US" dirty="0"/>
              <a:t>编码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查资料学习</a:t>
            </a:r>
            <a:r>
              <a:rPr lang="en-US" altLang="zh-CN" dirty="0"/>
              <a:t>RS</a:t>
            </a:r>
            <a:r>
              <a:rPr lang="zh-CN" altLang="en-US" dirty="0"/>
              <a:t>编码算法的组成与原理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分析</a:t>
            </a:r>
            <a:r>
              <a:rPr lang="en-US" altLang="zh-CN" dirty="0"/>
              <a:t>RS</a:t>
            </a:r>
            <a:r>
              <a:rPr lang="zh-CN" altLang="en-US" dirty="0"/>
              <a:t>算法的特点、性能和适用场合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编程实现</a:t>
            </a:r>
            <a:r>
              <a:rPr lang="en-US" altLang="zh-CN" dirty="0"/>
              <a:t>RS</a:t>
            </a:r>
            <a:r>
              <a:rPr lang="zh-CN" altLang="en-US" dirty="0"/>
              <a:t>编译码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编码参数自定，建议参考</a:t>
            </a:r>
            <a:r>
              <a:rPr lang="en-US" altLang="zh-CN" dirty="0"/>
              <a:t>CCSDS</a:t>
            </a:r>
            <a:r>
              <a:rPr lang="zh-CN" altLang="en-US" dirty="0"/>
              <a:t>、</a:t>
            </a:r>
            <a:r>
              <a:rPr lang="en-US" altLang="zh-CN" dirty="0"/>
              <a:t>DVB-S2</a:t>
            </a:r>
            <a:r>
              <a:rPr lang="zh-CN" altLang="en-US" dirty="0"/>
              <a:t>等无线通信、卫星通信协议的编码参数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实现</a:t>
            </a:r>
            <a:r>
              <a:rPr lang="en-US" altLang="zh-CN" dirty="0" err="1"/>
              <a:t>Berlekamp</a:t>
            </a:r>
            <a:r>
              <a:rPr lang="en-US" altLang="zh-CN" dirty="0"/>
              <a:t>-Massey</a:t>
            </a:r>
            <a:r>
              <a:rPr lang="zh-CN" altLang="en-US" dirty="0"/>
              <a:t> 译码算法或其他译码算法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309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信道编码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376" y="1052736"/>
            <a:ext cx="8462104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5. LDPC</a:t>
            </a:r>
            <a:r>
              <a:rPr lang="zh-CN" altLang="en-US" dirty="0"/>
              <a:t>编码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查资料学习</a:t>
            </a:r>
            <a:r>
              <a:rPr lang="en-US" altLang="zh-CN" dirty="0"/>
              <a:t>LDPC</a:t>
            </a:r>
            <a:r>
              <a:rPr lang="zh-CN" altLang="en-US" dirty="0"/>
              <a:t>编码算法的组成与原理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分析</a:t>
            </a:r>
            <a:r>
              <a:rPr lang="en-US" altLang="zh-CN" dirty="0"/>
              <a:t>LDPC</a:t>
            </a:r>
            <a:r>
              <a:rPr lang="zh-CN" altLang="en-US" dirty="0"/>
              <a:t>算法的特点、性能和适用场合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编程实现</a:t>
            </a:r>
            <a:r>
              <a:rPr lang="en-US" altLang="zh-CN" dirty="0"/>
              <a:t>LDPC</a:t>
            </a:r>
            <a:r>
              <a:rPr lang="zh-CN" altLang="en-US" dirty="0"/>
              <a:t>编译码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编码参数自定，建议参考</a:t>
            </a:r>
            <a:r>
              <a:rPr lang="en-US" altLang="zh-CN" dirty="0"/>
              <a:t>CCSDS</a:t>
            </a:r>
            <a:r>
              <a:rPr lang="zh-CN" altLang="en-US" dirty="0"/>
              <a:t>、</a:t>
            </a:r>
            <a:r>
              <a:rPr lang="en-US" altLang="zh-CN" dirty="0"/>
              <a:t>DVB-S2</a:t>
            </a:r>
            <a:r>
              <a:rPr lang="zh-CN" altLang="en-US" dirty="0"/>
              <a:t>的编码参数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实现</a:t>
            </a:r>
            <a:r>
              <a:rPr lang="en-US" altLang="zh-CN" dirty="0"/>
              <a:t>BP</a:t>
            </a:r>
            <a:r>
              <a:rPr lang="zh-CN" altLang="en-US" dirty="0"/>
              <a:t>译码算法或其他译码算法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979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362FB9-8C34-4B7C-95FF-90198C62CAC8}"/>
              </a:ext>
            </a:extLst>
          </p:cNvPr>
          <p:cNvSpPr txBox="1"/>
          <p:nvPr/>
        </p:nvSpPr>
        <p:spPr>
          <a:xfrm>
            <a:off x="179512" y="260648"/>
            <a:ext cx="7776864" cy="428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+mn-ea"/>
              </a:rPr>
              <a:t>关于编程相关问题</a:t>
            </a:r>
            <a:endParaRPr lang="en-US" altLang="zh-CN" sz="2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b="1" dirty="0">
                <a:latin typeface="+mn-ea"/>
              </a:rPr>
              <a:t>各组待编码文件素材同第三章研究性学习素材（各个组的</a:t>
            </a:r>
            <a:r>
              <a:rPr lang="en-US" altLang="zh-CN" sz="1600" b="1" dirty="0">
                <a:latin typeface="+mn-ea"/>
              </a:rPr>
              <a:t>256X256</a:t>
            </a:r>
            <a:r>
              <a:rPr lang="zh-CN" altLang="en-US" sz="1600" b="1" dirty="0">
                <a:latin typeface="+mn-ea"/>
              </a:rPr>
              <a:t>像素的单色图），也可以自选</a:t>
            </a:r>
            <a:endParaRPr lang="en-US" altLang="zh-CN" sz="16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600" b="1" dirty="0">
                <a:latin typeface="+mn-ea"/>
              </a:rPr>
              <a:t>友情提示：</a:t>
            </a:r>
            <a:endParaRPr lang="en-US" altLang="zh-CN" sz="16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n-ea"/>
              </a:rPr>
              <a:t>建议按照</a:t>
            </a:r>
            <a:r>
              <a:rPr lang="en-US" altLang="zh-CN" sz="1600" b="1" dirty="0">
                <a:latin typeface="+mn-ea"/>
              </a:rPr>
              <a:t>BMP</a:t>
            </a:r>
            <a:r>
              <a:rPr lang="zh-CN" altLang="en-US" sz="1600" b="1" dirty="0">
                <a:latin typeface="+mn-ea"/>
              </a:rPr>
              <a:t>文件格式，仅读出图像的像素数据流，对像素数据流进行编解码，可以将加噪前后、以及译码之后的数据文件流按照</a:t>
            </a:r>
            <a:r>
              <a:rPr lang="en-US" altLang="zh-CN" sz="1600" b="1" dirty="0">
                <a:latin typeface="+mn-ea"/>
              </a:rPr>
              <a:t>BMP</a:t>
            </a:r>
            <a:r>
              <a:rPr lang="zh-CN" altLang="en-US" sz="1600" b="1" dirty="0">
                <a:latin typeface="+mn-ea"/>
              </a:rPr>
              <a:t>格式重新封装（考虑文件头信息的变化），以增加直观性。</a:t>
            </a:r>
            <a:endParaRPr lang="en-US" altLang="zh-CN" sz="16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+mn-ea"/>
              </a:rPr>
              <a:t>加噪：最简单的方法是通过</a:t>
            </a:r>
            <a:r>
              <a:rPr lang="en-US" altLang="zh-CN" sz="1600" b="1" dirty="0">
                <a:latin typeface="+mn-ea"/>
              </a:rPr>
              <a:t>rand</a:t>
            </a:r>
            <a:r>
              <a:rPr lang="zh-CN" altLang="en-US" sz="1600" b="1" dirty="0">
                <a:latin typeface="+mn-ea"/>
              </a:rPr>
              <a:t>函数生成一个误码率为</a:t>
            </a:r>
            <a:r>
              <a:rPr lang="en-US" altLang="zh-CN" sz="1600" b="1" dirty="0">
                <a:latin typeface="+mn-ea"/>
              </a:rPr>
              <a:t>pe</a:t>
            </a:r>
            <a:r>
              <a:rPr lang="zh-CN" altLang="en-US" sz="1600" b="1" dirty="0">
                <a:latin typeface="+mn-ea"/>
              </a:rPr>
              <a:t>的随机序列，长度</a:t>
            </a:r>
            <a:r>
              <a:rPr lang="en-US" altLang="zh-CN" sz="1600" b="1" dirty="0">
                <a:latin typeface="+mn-ea"/>
              </a:rPr>
              <a:t>L</a:t>
            </a:r>
            <a:r>
              <a:rPr lang="zh-CN" altLang="en-US" sz="1600" b="1" dirty="0">
                <a:latin typeface="+mn-ea"/>
              </a:rPr>
              <a:t>同待编码数据，其中包含随机分布的</a:t>
            </a:r>
            <a:r>
              <a:rPr lang="en-US" altLang="zh-CN" sz="1600" b="1" dirty="0">
                <a:latin typeface="+mn-ea"/>
              </a:rPr>
              <a:t>L*pe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，将该序列与待编码数据对应位异或。噪声序列</a:t>
            </a:r>
            <a:r>
              <a:rPr lang="en-US" altLang="zh-CN" sz="1600" b="1" dirty="0">
                <a:latin typeface="+mn-ea"/>
              </a:rPr>
              <a:t>:</a:t>
            </a:r>
            <a:r>
              <a:rPr lang="zh-CN" altLang="en-US" sz="1600" b="1" dirty="0">
                <a:latin typeface="+mn-ea"/>
              </a:rPr>
              <a:t>误码率自定</a:t>
            </a:r>
            <a:r>
              <a:rPr lang="en-US" altLang="zh-CN" sz="1600" b="1" dirty="0">
                <a:latin typeface="+mn-ea"/>
              </a:rPr>
              <a:t>----</a:t>
            </a:r>
            <a:r>
              <a:rPr lang="zh-CN" altLang="en-US" sz="1600" b="1" dirty="0">
                <a:latin typeface="+mn-ea"/>
              </a:rPr>
              <a:t>注意：过高会超出信道编码的纠错能力、过低会体现不出信道编码的意义。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4635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362FB9-8C34-4B7C-95FF-90198C62CAC8}"/>
              </a:ext>
            </a:extLst>
          </p:cNvPr>
          <p:cNvSpPr txBox="1"/>
          <p:nvPr/>
        </p:nvSpPr>
        <p:spPr>
          <a:xfrm>
            <a:off x="36136" y="116632"/>
            <a:ext cx="8640319" cy="5858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+mn-ea"/>
              </a:rPr>
              <a:t>关于编程相关问题</a:t>
            </a:r>
            <a:endParaRPr lang="en-US" altLang="zh-CN" sz="1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制作</a:t>
            </a:r>
            <a:r>
              <a:rPr lang="en-US" altLang="zh-CN" sz="1400" b="1" dirty="0">
                <a:latin typeface="+mn-ea"/>
              </a:rPr>
              <a:t>20</a:t>
            </a:r>
            <a:r>
              <a:rPr lang="zh-CN" altLang="en-US" sz="1400" b="1" dirty="0">
                <a:latin typeface="+mn-ea"/>
              </a:rPr>
              <a:t>分钟</a:t>
            </a:r>
            <a:r>
              <a:rPr lang="en-US" altLang="zh-CN" sz="1400" b="1" dirty="0">
                <a:latin typeface="+mn-ea"/>
              </a:rPr>
              <a:t>PPT</a:t>
            </a:r>
            <a:r>
              <a:rPr lang="zh-CN" altLang="en-US" sz="1400" b="1" dirty="0">
                <a:latin typeface="+mn-ea"/>
              </a:rPr>
              <a:t>用于课堂演示，内容包括：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组内成员分工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编译码原理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源图像文件加噪前后的对比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同一误码率下，不同编码方法的性能分析（根据不同的编码方式可以分析码长、码率、生成多项式、编码矩阵、译码迭代等不同参数对编码性能的影响）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同一编码方法下，不同误码率的性能分析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编程思路或程序流程、程序演示、程序代码讲解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参考文献</a:t>
            </a:r>
            <a:endParaRPr lang="en-US" altLang="zh-CN" sz="1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乐学提交内容：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+mn-ea"/>
              </a:rPr>
              <a:t>PPT</a:t>
            </a: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源代码</a:t>
            </a:r>
            <a:endParaRPr lang="en-US" altLang="zh-CN" sz="1400" b="1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评分准则（共</a:t>
            </a:r>
            <a:r>
              <a:rPr lang="en-US" altLang="zh-CN" sz="1400" b="1" dirty="0">
                <a:latin typeface="+mn-ea"/>
              </a:rPr>
              <a:t>5</a:t>
            </a:r>
            <a:r>
              <a:rPr lang="zh-CN" altLang="en-US" sz="1400" b="1" dirty="0">
                <a:latin typeface="+mn-ea"/>
              </a:rPr>
              <a:t>分）：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程序运行正确</a:t>
            </a:r>
            <a:r>
              <a:rPr lang="en-US" altLang="zh-CN" sz="1400" b="1" dirty="0">
                <a:latin typeface="+mn-ea"/>
              </a:rPr>
              <a:t>2</a:t>
            </a:r>
            <a:r>
              <a:rPr lang="zh-CN" altLang="en-US" sz="1400" b="1" dirty="0">
                <a:latin typeface="+mn-ea"/>
              </a:rPr>
              <a:t>分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+mn-ea"/>
              </a:rPr>
              <a:t>代码注释清晰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分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+mn-ea"/>
              </a:rPr>
              <a:t>PPT</a:t>
            </a:r>
            <a:r>
              <a:rPr lang="zh-CN" altLang="en-US" sz="1400" b="1" dirty="0">
                <a:latin typeface="+mn-ea"/>
              </a:rPr>
              <a:t>内容中编译码原理完整清晰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分</a:t>
            </a:r>
            <a:endParaRPr lang="en-US" altLang="zh-CN" sz="1400" b="1" dirty="0">
              <a:latin typeface="+mn-ea"/>
            </a:endParaRPr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+mn-ea"/>
              </a:rPr>
              <a:t>PPT</a:t>
            </a:r>
            <a:r>
              <a:rPr lang="zh-CN" altLang="en-US" sz="1400" b="1" dirty="0">
                <a:latin typeface="+mn-ea"/>
              </a:rPr>
              <a:t>内容中编译码性能分析及结果完整清晰</a:t>
            </a: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分</a:t>
            </a:r>
            <a:endParaRPr lang="en-US" altLang="zh-CN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946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855</Words>
  <Application>Microsoft Office PowerPoint</Application>
  <PresentationFormat>全屏显示(4:3)</PresentationFormat>
  <Paragraphs>91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Arial</vt:lpstr>
      <vt:lpstr>Calibri</vt:lpstr>
      <vt:lpstr>Wingdings</vt:lpstr>
      <vt:lpstr>Office 主题​​</vt:lpstr>
      <vt:lpstr>第四章 研究性学习</vt:lpstr>
      <vt:lpstr>--信道编码 </vt:lpstr>
      <vt:lpstr>--信道编码 </vt:lpstr>
      <vt:lpstr>-信道编码 </vt:lpstr>
      <vt:lpstr>-信道编码 </vt:lpstr>
      <vt:lpstr>-信道编码 </vt:lpstr>
      <vt:lpstr>-信道编码 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第四章作业</dc:title>
  <dc:creator>微软用户</dc:creator>
  <cp:lastModifiedBy>武瀚</cp:lastModifiedBy>
  <cp:revision>54</cp:revision>
  <dcterms:created xsi:type="dcterms:W3CDTF">2015-04-21T08:07:28Z</dcterms:created>
  <dcterms:modified xsi:type="dcterms:W3CDTF">2026-01-01T08:49:04Z</dcterms:modified>
</cp:coreProperties>
</file>